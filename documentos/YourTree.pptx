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5" r:id="rId13"/>
  </p:sldIdLst>
  <p:sldSz cx="16256000" cy="9144000"/>
  <p:notesSz cx="9144000" cy="16256000"/>
  <p:embeddedFontLst>
    <p:embeddedFont>
      <p:font typeface="Quattrocento Sans" panose="020B0502050000020003" pitchFamily="34" charset="0"/>
      <p:regular r:id="rId15"/>
      <p:bold r:id="rId16"/>
      <p:italic r:id="rId17"/>
      <p:boldItalic r:id="rId18"/>
    </p:embeddedFont>
  </p:embeddedFont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43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136" y="1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Costes Acumulados</c:v>
                </c:pt>
              </c:strCache>
            </c:strRef>
          </c:tx>
          <c:spPr>
            <a:ln w="25400" cap="flat">
              <a:solidFill>
                <a:srgbClr val="6C757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C757D"/>
              </a:solidFill>
              <a:ln w="9525" cap="flat">
                <a:solidFill>
                  <a:srgbClr val="6C757D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  <c:pt idx="6">
                  <c:v>M7</c:v>
                </c:pt>
                <c:pt idx="7">
                  <c:v>M8</c:v>
                </c:pt>
                <c:pt idx="8">
                  <c:v>M9</c:v>
                </c:pt>
                <c:pt idx="9">
                  <c:v>M10</c:v>
                </c:pt>
                <c:pt idx="10">
                  <c:v>M11</c:v>
                </c:pt>
                <c:pt idx="11">
                  <c:v>M12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1951</c:v>
                </c:pt>
                <c:pt idx="1">
                  <c:v>1966</c:v>
                </c:pt>
                <c:pt idx="2">
                  <c:v>1981</c:v>
                </c:pt>
                <c:pt idx="3">
                  <c:v>1996</c:v>
                </c:pt>
                <c:pt idx="4">
                  <c:v>2011</c:v>
                </c:pt>
                <c:pt idx="5">
                  <c:v>2026</c:v>
                </c:pt>
                <c:pt idx="6">
                  <c:v>2041</c:v>
                </c:pt>
                <c:pt idx="7">
                  <c:v>2056</c:v>
                </c:pt>
                <c:pt idx="8">
                  <c:v>2071</c:v>
                </c:pt>
                <c:pt idx="9">
                  <c:v>2086</c:v>
                </c:pt>
                <c:pt idx="10">
                  <c:v>2101</c:v>
                </c:pt>
                <c:pt idx="11">
                  <c:v>2116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14CE-4425-91E8-3DFF09FEEE0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Ingresos</c:v>
                </c:pt>
              </c:strCache>
            </c:strRef>
          </c:tx>
          <c:spPr>
            <a:ln w="25400" cap="flat">
              <a:solidFill>
                <a:srgbClr val="2A9D8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A9D8F"/>
              </a:solidFill>
              <a:ln w="9525" cap="flat">
                <a:solidFill>
                  <a:srgbClr val="2A9D8F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  <c:pt idx="6">
                  <c:v>M7</c:v>
                </c:pt>
                <c:pt idx="7">
                  <c:v>M8</c:v>
                </c:pt>
                <c:pt idx="8">
                  <c:v>M9</c:v>
                </c:pt>
                <c:pt idx="9">
                  <c:v>M10</c:v>
                </c:pt>
                <c:pt idx="10">
                  <c:v>M11</c:v>
                </c:pt>
                <c:pt idx="11">
                  <c:v>M12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1">
                  <c:v>15</c:v>
                </c:pt>
                <c:pt idx="2">
                  <c:v>45</c:v>
                </c:pt>
                <c:pt idx="3">
                  <c:v>90</c:v>
                </c:pt>
                <c:pt idx="4">
                  <c:v>150</c:v>
                </c:pt>
                <c:pt idx="5">
                  <c:v>230</c:v>
                </c:pt>
                <c:pt idx="6">
                  <c:v>330</c:v>
                </c:pt>
                <c:pt idx="7">
                  <c:v>450</c:v>
                </c:pt>
                <c:pt idx="8">
                  <c:v>590</c:v>
                </c:pt>
                <c:pt idx="9">
                  <c:v>750</c:v>
                </c:pt>
                <c:pt idx="10">
                  <c:v>930</c:v>
                </c:pt>
                <c:pt idx="11">
                  <c:v>1130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14CE-4425-91E8-3DFF09FEEE0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C75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9EC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C75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8939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D7852-FF97-13CF-1C85-CFC8823E2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C739CB-8130-55B8-CD7B-0040AEAC1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E36B06-1451-5DD6-2D63-1985743374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C62ABC-1624-38F5-B123-892D70C874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018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D5D20-E6B7-1226-5BCA-3D68257BF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827CBF-EFBD-BCEF-A2FB-1670C9BC44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5D905B-C313-EAA7-C8D6-95912FDFE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17E0A1-8244-DB2F-58C6-403CD69A94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9521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1270000"/>
            <a:ext cx="152400" cy="152400"/>
          </a:xfrm>
          <a:prstGeom prst="ellipse">
            <a:avLst/>
          </a:prstGeom>
          <a:solidFill>
            <a:srgbClr val="2A9D8F">
              <a:alpha val="25098"/>
            </a:srgbClr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600200" y="1346200"/>
            <a:ext cx="2540000" cy="1905000"/>
          </a:xfrm>
          <a:prstGeom prst="straightConnector1">
            <a:avLst/>
          </a:prstGeom>
          <a:noFill/>
          <a:ln w="12700">
            <a:solidFill>
              <a:srgbClr val="2A9D8F">
                <a:alpha val="1451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826000" y="762000"/>
            <a:ext cx="127000" cy="127000"/>
          </a:xfrm>
          <a:prstGeom prst="ellipse">
            <a:avLst/>
          </a:prstGeom>
          <a:solidFill>
            <a:srgbClr val="2A9D8F">
              <a:alpha val="18824"/>
            </a:srgbClr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889500" y="825500"/>
            <a:ext cx="2540000" cy="1524000"/>
          </a:xfrm>
          <a:prstGeom prst="straightConnector1">
            <a:avLst/>
          </a:prstGeom>
          <a:noFill/>
          <a:ln w="12700">
            <a:solidFill>
              <a:srgbClr val="2A9D8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3335000" y="1905000"/>
            <a:ext cx="177800" cy="177800"/>
          </a:xfrm>
          <a:prstGeom prst="ellipse">
            <a:avLst/>
          </a:prstGeom>
          <a:solidFill>
            <a:srgbClr val="2A9D8F">
              <a:alpha val="20784"/>
            </a:srgbClr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160000" y="1993900"/>
            <a:ext cx="3263900" cy="0"/>
          </a:xfrm>
          <a:prstGeom prst="straightConnector1">
            <a:avLst/>
          </a:prstGeom>
          <a:noFill/>
          <a:ln w="12700">
            <a:solidFill>
              <a:srgbClr val="2A9D8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16000" y="6985000"/>
            <a:ext cx="127000" cy="127000"/>
          </a:xfrm>
          <a:prstGeom prst="ellipse">
            <a:avLst/>
          </a:prstGeom>
          <a:solidFill>
            <a:srgbClr val="2A9D8F">
              <a:alpha val="14510"/>
            </a:srgbClr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79500" y="5969000"/>
            <a:ext cx="2540000" cy="1079500"/>
          </a:xfrm>
          <a:prstGeom prst="straightConnector1">
            <a:avLst/>
          </a:prstGeom>
          <a:noFill/>
          <a:ln w="12700">
            <a:solidFill>
              <a:srgbClr val="2A9D8F">
                <a:alpha val="9412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3970000" y="6350000"/>
            <a:ext cx="152400" cy="152400"/>
          </a:xfrm>
          <a:prstGeom prst="ellipse">
            <a:avLst/>
          </a:prstGeom>
          <a:solidFill>
            <a:srgbClr val="2A9D8F">
              <a:alpha val="18824"/>
            </a:srgbClr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2065000" y="5969000"/>
            <a:ext cx="1981200" cy="457200"/>
          </a:xfrm>
          <a:prstGeom prst="straightConnector1">
            <a:avLst/>
          </a:prstGeom>
          <a:noFill/>
          <a:ln w="12700">
            <a:solidFill>
              <a:srgbClr val="2A9D8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890000" y="1016000"/>
            <a:ext cx="101600" cy="101600"/>
          </a:xfrm>
          <a:prstGeom prst="ellipse">
            <a:avLst/>
          </a:prstGeom>
          <a:solidFill>
            <a:srgbClr val="2A9D8F">
              <a:alpha val="25098"/>
            </a:srgbClr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540000" y="3810000"/>
            <a:ext cx="127000" cy="127000"/>
          </a:xfrm>
          <a:prstGeom prst="ellipse">
            <a:avLst/>
          </a:prstGeom>
          <a:solidFill>
            <a:srgbClr val="2A9D8F">
              <a:alpha val="15686"/>
            </a:srgbClr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001000" y="5588000"/>
            <a:ext cx="254000" cy="254000"/>
          </a:xfrm>
          <a:prstGeom prst="ellipse">
            <a:avLst/>
          </a:prstGeom>
          <a:solidFill>
            <a:srgbClr val="2A9D8F">
              <a:alpha val="9412"/>
            </a:srgbClr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778000" y="3302000"/>
            <a:ext cx="1270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YourTree</a:t>
            </a:r>
            <a:endParaRPr lang="en-US" sz="4000" dirty="0">
              <a:latin typeface="Quattrocento Sans" panose="020B0502050000020003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413000" y="4127500"/>
            <a:ext cx="1143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Ecosistema de Identidad y Comunidad Interactiva</a:t>
            </a:r>
            <a:endParaRPr lang="en-US" sz="2000" dirty="0">
              <a:latin typeface="Quattrocento Sans" panose="020B0502050000020003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223000" y="4889500"/>
            <a:ext cx="3810000" cy="2540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048000" y="51435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Proyecto Intermodular - Grado Superior en Desarrollo de Aplicaciones Web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683000" y="7493000"/>
            <a:ext cx="8890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66667"/>
                  </a:srgbClr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Presentado por: </a:t>
            </a:r>
            <a:r>
              <a:rPr lang="en-US" sz="1600" b="1" dirty="0">
                <a:solidFill>
                  <a:srgbClr val="FFFFFF">
                    <a:alpha val="66667"/>
                  </a:srgbClr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Nicolas Gianfranco Pezo Ccama</a:t>
            </a:r>
            <a:endParaRPr lang="en-US" sz="1600" dirty="0">
              <a:latin typeface="Quattrocento Sans" panose="020B0502050000020003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66667"/>
                  </a:srgbClr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Curso académico 2025 / 2026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pic>
        <p:nvPicPr>
          <p:cNvPr id="22" name="Gráfico 21">
            <a:extLst>
              <a:ext uri="{FF2B5EF4-FFF2-40B4-BE49-F238E27FC236}">
                <a16:creationId xmlns:a16="http://schemas.microsoft.com/office/drawing/2014/main" id="{8C19F3E8-8EDB-0875-AA59-ABDBAA9D83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29500" y="1011824"/>
            <a:ext cx="2134441" cy="244530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0" y="-76752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chemeClr val="bg1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CONTEXTO</a:t>
            </a:r>
            <a:endParaRPr lang="en-US" sz="1200" dirty="0">
              <a:solidFill>
                <a:schemeClr val="bg1"/>
              </a:solidFill>
              <a:latin typeface="Quattrocento Sans" panose="020B0502050000020003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62000" y="736600"/>
            <a:ext cx="50800" cy="35560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65200" y="6985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4332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El Desafío de la Dispersión</a:t>
            </a:r>
            <a:endParaRPr lang="en-US" sz="2800" dirty="0">
              <a:latin typeface="Quattrocento Sans" panose="020B0502050000020003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62000" y="1397000"/>
            <a:ext cx="7112000" cy="330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16000" y="1587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77800" y="94456"/>
                </a:moveTo>
                <a:cubicBezTo>
                  <a:pt x="187037" y="94456"/>
                  <a:pt x="194469" y="101888"/>
                  <a:pt x="194469" y="111125"/>
                </a:cubicBezTo>
                <a:lnTo>
                  <a:pt x="194469" y="188913"/>
                </a:lnTo>
                <a:cubicBezTo>
                  <a:pt x="194469" y="198150"/>
                  <a:pt x="187037" y="205581"/>
                  <a:pt x="177800" y="205581"/>
                </a:cubicBezTo>
                <a:cubicBezTo>
                  <a:pt x="168563" y="205581"/>
                  <a:pt x="161131" y="198150"/>
                  <a:pt x="161131" y="188913"/>
                </a:cubicBezTo>
                <a:lnTo>
                  <a:pt x="161131" y="111125"/>
                </a:lnTo>
                <a:cubicBezTo>
                  <a:pt x="161131" y="101888"/>
                  <a:pt x="168563" y="94456"/>
                  <a:pt x="177800" y="94456"/>
                </a:cubicBezTo>
                <a:close/>
                <a:moveTo>
                  <a:pt x="159256" y="244475"/>
                </a:moveTo>
                <a:cubicBezTo>
                  <a:pt x="158834" y="237592"/>
                  <a:pt x="162267" y="231043"/>
                  <a:pt x="168168" y="227474"/>
                </a:cubicBezTo>
                <a:cubicBezTo>
                  <a:pt x="174068" y="223904"/>
                  <a:pt x="181462" y="223904"/>
                  <a:pt x="187363" y="227474"/>
                </a:cubicBezTo>
                <a:cubicBezTo>
                  <a:pt x="193264" y="231043"/>
                  <a:pt x="196696" y="237592"/>
                  <a:pt x="196275" y="244475"/>
                </a:cubicBezTo>
                <a:cubicBezTo>
                  <a:pt x="196696" y="251358"/>
                  <a:pt x="193264" y="257907"/>
                  <a:pt x="187363" y="261476"/>
                </a:cubicBezTo>
                <a:cubicBezTo>
                  <a:pt x="181462" y="265046"/>
                  <a:pt x="174068" y="265046"/>
                  <a:pt x="168168" y="261476"/>
                </a:cubicBezTo>
                <a:cubicBezTo>
                  <a:pt x="162267" y="257907"/>
                  <a:pt x="158834" y="251358"/>
                  <a:pt x="159256" y="244475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498600" y="15621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6C757D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Problema Identificado</a:t>
            </a:r>
            <a:endParaRPr lang="en-US" sz="2000" dirty="0">
              <a:latin typeface="Quattrocento Sans" panose="020B0502050000020003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16000" y="2095500"/>
            <a:ext cx="6604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Los creadores mantienen cuentas en </a:t>
            </a:r>
            <a:r>
              <a:rPr lang="en-US" sz="1500" b="1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múltiples plataformas</a:t>
            </a: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, generando:</a:t>
            </a:r>
            <a:endParaRPr lang="en-US" sz="1800" dirty="0">
              <a:latin typeface="Quattrocento Sans" panose="020B0502050000020003" pitchFamily="34" charset="0"/>
            </a:endParaRPr>
          </a:p>
          <a:p>
            <a:pPr marL="285750" indent="-285750">
              <a:lnSpc>
                <a:spcPct val="145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Fragmentación de identidad digital</a:t>
            </a:r>
            <a:endParaRPr lang="en-US" sz="1800" dirty="0">
              <a:latin typeface="Quattrocento Sans" panose="020B0502050000020003" pitchFamily="34" charset="0"/>
            </a:endParaRPr>
          </a:p>
          <a:p>
            <a:pPr marL="285750" indent="-285750">
              <a:lnSpc>
                <a:spcPct val="145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Baja retención de usuarios</a:t>
            </a:r>
            <a:endParaRPr lang="en-US" sz="1800" dirty="0">
              <a:latin typeface="Quattrocento Sans" panose="020B0502050000020003" pitchFamily="34" charset="0"/>
            </a:endParaRPr>
          </a:p>
          <a:p>
            <a:pPr marL="285750" indent="-285750">
              <a:lnSpc>
                <a:spcPct val="145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Falta de bidireccionalidad</a:t>
            </a:r>
            <a:endParaRPr lang="en-US" sz="1800" dirty="0">
              <a:latin typeface="Quattrocento Sans" panose="020B0502050000020003" pitchFamily="34" charset="0"/>
            </a:endParaRPr>
          </a:p>
          <a:p>
            <a:pPr marL="285750" indent="-285750">
              <a:lnSpc>
                <a:spcPct val="145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Experiencia incómoda e ineficiente</a:t>
            </a:r>
            <a:endParaRPr lang="en-US" sz="1800" dirty="0">
              <a:latin typeface="Quattrocento Sans" panose="020B0502050000020003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382000" y="1397000"/>
            <a:ext cx="7112000" cy="330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680450" y="1587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118600" y="1562100"/>
            <a:ext cx="4445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6C757D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Aportación Original</a:t>
            </a:r>
            <a:endParaRPr lang="en-US" sz="2000" dirty="0">
              <a:latin typeface="Quattrocento Sans" panose="020B0502050000020003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636000" y="2095500"/>
            <a:ext cx="6604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Integración de </a:t>
            </a:r>
            <a:r>
              <a:rPr lang="en-US" sz="1500" b="1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foros colaborativos</a:t>
            </a: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 dentro de un árbol de enlaces (link-in-bio).</a:t>
            </a:r>
            <a:endParaRPr lang="en-US" sz="1800" dirty="0">
              <a:latin typeface="Quattrocento Sans" panose="020B0502050000020003" pitchFamily="34" charset="0"/>
            </a:endParaRPr>
          </a:p>
          <a:p>
            <a:pPr>
              <a:lnSpc>
                <a:spcPct val="145000"/>
              </a:lnSpc>
              <a:spcBef>
                <a:spcPts val="400"/>
              </a:spcBef>
            </a:pP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YourTree unifica:</a:t>
            </a:r>
            <a:endParaRPr lang="en-US" sz="1800" dirty="0">
              <a:latin typeface="Quattrocento Sans" panose="020B0502050000020003" pitchFamily="34" charset="0"/>
            </a:endParaRPr>
          </a:p>
          <a:p>
            <a:pPr marL="285750" indent="-285750">
              <a:lnSpc>
                <a:spcPct val="145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Presencia digital centralizada</a:t>
            </a:r>
            <a:endParaRPr lang="en-US" sz="1800" dirty="0">
              <a:latin typeface="Quattrocento Sans" panose="020B0502050000020003" pitchFamily="34" charset="0"/>
            </a:endParaRPr>
          </a:p>
          <a:p>
            <a:pPr marL="285750" indent="-285750">
              <a:lnSpc>
                <a:spcPct val="145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Comunidad interactiva con foros</a:t>
            </a:r>
            <a:endParaRPr lang="en-US" sz="1800" dirty="0">
              <a:latin typeface="Quattrocento Sans" panose="020B0502050000020003" pitchFamily="34" charset="0"/>
            </a:endParaRPr>
          </a:p>
          <a:p>
            <a:pPr marL="285750" indent="-285750">
              <a:lnSpc>
                <a:spcPct val="145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Compartir logros y recursos</a:t>
            </a:r>
            <a:endParaRPr lang="en-US" sz="1800" dirty="0">
              <a:latin typeface="Quattrocento Sans" panose="020B0502050000020003" pitchFamily="34" charset="0"/>
            </a:endParaRPr>
          </a:p>
          <a:p>
            <a:pPr marL="285750" indent="-285750">
              <a:lnSpc>
                <a:spcPct val="145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Colaboración para resolver dudas</a:t>
            </a:r>
            <a:endParaRPr lang="en-US" sz="1800" dirty="0">
              <a:latin typeface="Quattrocento Sans" panose="020B0502050000020003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62000" y="5016500"/>
            <a:ext cx="14732000" cy="1143000"/>
          </a:xfrm>
          <a:prstGeom prst="roundRect">
            <a:avLst>
              <a:gd name="adj" fmla="val 6000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079500" y="5308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55600" y="203200"/>
                </a:moveTo>
                <a:cubicBezTo>
                  <a:pt x="355600" y="119088"/>
                  <a:pt x="287312" y="50800"/>
                  <a:pt x="203200" y="50800"/>
                </a:cubicBezTo>
                <a:cubicBezTo>
                  <a:pt x="119088" y="50800"/>
                  <a:pt x="50800" y="119088"/>
                  <a:pt x="50800" y="203200"/>
                </a:cubicBezTo>
                <a:cubicBezTo>
                  <a:pt x="50800" y="287312"/>
                  <a:pt x="119088" y="355600"/>
                  <a:pt x="203200" y="355600"/>
                </a:cubicBezTo>
                <a:cubicBezTo>
                  <a:pt x="287312" y="355600"/>
                  <a:pt x="355600" y="287312"/>
                  <a:pt x="355600" y="203200"/>
                </a:cubicBezTo>
                <a:close/>
                <a:moveTo>
                  <a:pt x="0" y="203200"/>
                </a:moveTo>
                <a:cubicBezTo>
                  <a:pt x="0" y="91051"/>
                  <a:pt x="91051" y="0"/>
                  <a:pt x="203200" y="0"/>
                </a:cubicBez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lose/>
                <a:moveTo>
                  <a:pt x="203200" y="266700"/>
                </a:moveTo>
                <a:cubicBezTo>
                  <a:pt x="238247" y="266700"/>
                  <a:pt x="266700" y="238247"/>
                  <a:pt x="266700" y="203200"/>
                </a:cubicBezTo>
                <a:cubicBezTo>
                  <a:pt x="266700" y="168153"/>
                  <a:pt x="238247" y="139700"/>
                  <a:pt x="203200" y="139700"/>
                </a:cubicBezTo>
                <a:cubicBezTo>
                  <a:pt x="168153" y="139700"/>
                  <a:pt x="139700" y="168153"/>
                  <a:pt x="139700" y="203200"/>
                </a:cubicBezTo>
                <a:cubicBezTo>
                  <a:pt x="139700" y="238247"/>
                  <a:pt x="168153" y="266700"/>
                  <a:pt x="203200" y="266700"/>
                </a:cubicBezTo>
                <a:close/>
                <a:moveTo>
                  <a:pt x="203200" y="88900"/>
                </a:moveTo>
                <a:cubicBezTo>
                  <a:pt x="266284" y="88900"/>
                  <a:pt x="317500" y="140116"/>
                  <a:pt x="317500" y="203200"/>
                </a:cubicBezTo>
                <a:cubicBezTo>
                  <a:pt x="317500" y="266284"/>
                  <a:pt x="266284" y="317500"/>
                  <a:pt x="203200" y="317500"/>
                </a:cubicBezTo>
                <a:cubicBezTo>
                  <a:pt x="140116" y="317500"/>
                  <a:pt x="88900" y="266284"/>
                  <a:pt x="88900" y="203200"/>
                </a:cubicBezTo>
                <a:cubicBezTo>
                  <a:pt x="88900" y="140116"/>
                  <a:pt x="140116" y="88900"/>
                  <a:pt x="203200" y="88900"/>
                </a:cubicBezTo>
                <a:close/>
                <a:moveTo>
                  <a:pt x="177800" y="203200"/>
                </a:moveTo>
                <a:cubicBezTo>
                  <a:pt x="177800" y="189181"/>
                  <a:pt x="189181" y="177800"/>
                  <a:pt x="203200" y="177800"/>
                </a:cubicBezTo>
                <a:cubicBezTo>
                  <a:pt x="217219" y="177800"/>
                  <a:pt x="228600" y="189181"/>
                  <a:pt x="228600" y="203200"/>
                </a:cubicBezTo>
                <a:cubicBezTo>
                  <a:pt x="228600" y="217219"/>
                  <a:pt x="217219" y="228600"/>
                  <a:pt x="203200" y="228600"/>
                </a:cubicBezTo>
                <a:cubicBezTo>
                  <a:pt x="189181" y="228600"/>
                  <a:pt x="177800" y="217219"/>
                  <a:pt x="177800" y="203200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651000" y="5143500"/>
            <a:ext cx="1358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Objetivo:</a:t>
            </a:r>
            <a:r>
              <a:rPr lang="en-US" sz="18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 Permitir a los usuarios compartir sus logros, recursos y contenidos de forma rápida, segura y centralizada, evitando la necesidad de acudir a diferentes sitios web.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62000" y="6477000"/>
            <a:ext cx="4699000" cy="20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90600" y="6731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332978" y="76200"/>
                </a:moveTo>
                <a:cubicBezTo>
                  <a:pt x="319802" y="76200"/>
                  <a:pt x="307023" y="79772"/>
                  <a:pt x="295831" y="86281"/>
                </a:cubicBezTo>
                <a:cubicBezTo>
                  <a:pt x="283289" y="73581"/>
                  <a:pt x="268684" y="62944"/>
                  <a:pt x="252571" y="54928"/>
                </a:cubicBezTo>
                <a:cubicBezTo>
                  <a:pt x="274955" y="35878"/>
                  <a:pt x="303451" y="25400"/>
                  <a:pt x="332978" y="25400"/>
                </a:cubicBezTo>
                <a:cubicBezTo>
                  <a:pt x="401558" y="25400"/>
                  <a:pt x="457200" y="80963"/>
                  <a:pt x="457200" y="149622"/>
                </a:cubicBezTo>
                <a:cubicBezTo>
                  <a:pt x="457200" y="182563"/>
                  <a:pt x="444103" y="214154"/>
                  <a:pt x="420846" y="237411"/>
                </a:cubicBezTo>
                <a:lnTo>
                  <a:pt x="364411" y="293846"/>
                </a:lnTo>
                <a:cubicBezTo>
                  <a:pt x="341154" y="317103"/>
                  <a:pt x="309563" y="330200"/>
                  <a:pt x="276622" y="330200"/>
                </a:cubicBezTo>
                <a:cubicBezTo>
                  <a:pt x="208042" y="330200"/>
                  <a:pt x="152400" y="274638"/>
                  <a:pt x="152400" y="205978"/>
                </a:cubicBezTo>
                <a:cubicBezTo>
                  <a:pt x="152400" y="204788"/>
                  <a:pt x="152400" y="203597"/>
                  <a:pt x="152479" y="202406"/>
                </a:cubicBezTo>
                <a:cubicBezTo>
                  <a:pt x="152876" y="188357"/>
                  <a:pt x="164544" y="177324"/>
                  <a:pt x="178594" y="177721"/>
                </a:cubicBezTo>
                <a:cubicBezTo>
                  <a:pt x="192643" y="178118"/>
                  <a:pt x="203676" y="189786"/>
                  <a:pt x="203279" y="203835"/>
                </a:cubicBezTo>
                <a:cubicBezTo>
                  <a:pt x="203279" y="204549"/>
                  <a:pt x="203279" y="205264"/>
                  <a:pt x="203279" y="205899"/>
                </a:cubicBezTo>
                <a:cubicBezTo>
                  <a:pt x="203279" y="246459"/>
                  <a:pt x="236141" y="279321"/>
                  <a:pt x="276701" y="279321"/>
                </a:cubicBezTo>
                <a:cubicBezTo>
                  <a:pt x="296148" y="279321"/>
                  <a:pt x="314801" y="271621"/>
                  <a:pt x="328613" y="257810"/>
                </a:cubicBezTo>
                <a:lnTo>
                  <a:pt x="385048" y="201374"/>
                </a:lnTo>
                <a:cubicBezTo>
                  <a:pt x="398780" y="187643"/>
                  <a:pt x="406559" y="168910"/>
                  <a:pt x="406559" y="149463"/>
                </a:cubicBezTo>
                <a:cubicBezTo>
                  <a:pt x="406559" y="108903"/>
                  <a:pt x="373698" y="76041"/>
                  <a:pt x="333137" y="76041"/>
                </a:cubicBezTo>
                <a:close/>
                <a:moveTo>
                  <a:pt x="218440" y="137557"/>
                </a:moveTo>
                <a:cubicBezTo>
                  <a:pt x="216932" y="136922"/>
                  <a:pt x="215424" y="136049"/>
                  <a:pt x="214074" y="135096"/>
                </a:cubicBezTo>
                <a:cubicBezTo>
                  <a:pt x="204073" y="129937"/>
                  <a:pt x="192643" y="127000"/>
                  <a:pt x="180658" y="127000"/>
                </a:cubicBezTo>
                <a:cubicBezTo>
                  <a:pt x="161211" y="127000"/>
                  <a:pt x="142558" y="134699"/>
                  <a:pt x="128746" y="148511"/>
                </a:cubicBezTo>
                <a:lnTo>
                  <a:pt x="72311" y="204946"/>
                </a:lnTo>
                <a:cubicBezTo>
                  <a:pt x="58579" y="218678"/>
                  <a:pt x="50800" y="237411"/>
                  <a:pt x="50800" y="256858"/>
                </a:cubicBezTo>
                <a:cubicBezTo>
                  <a:pt x="50800" y="297418"/>
                  <a:pt x="83661" y="330279"/>
                  <a:pt x="124222" y="330279"/>
                </a:cubicBezTo>
                <a:cubicBezTo>
                  <a:pt x="137319" y="330279"/>
                  <a:pt x="150098" y="326787"/>
                  <a:pt x="161290" y="320278"/>
                </a:cubicBezTo>
                <a:cubicBezTo>
                  <a:pt x="173831" y="332978"/>
                  <a:pt x="188436" y="343614"/>
                  <a:pt x="204629" y="351631"/>
                </a:cubicBezTo>
                <a:cubicBezTo>
                  <a:pt x="182245" y="370602"/>
                  <a:pt x="153829" y="381159"/>
                  <a:pt x="124222" y="381159"/>
                </a:cubicBezTo>
                <a:cubicBezTo>
                  <a:pt x="55642" y="381159"/>
                  <a:pt x="0" y="325596"/>
                  <a:pt x="0" y="256937"/>
                </a:cubicBezTo>
                <a:cubicBezTo>
                  <a:pt x="0" y="223996"/>
                  <a:pt x="13097" y="192405"/>
                  <a:pt x="36354" y="169148"/>
                </a:cubicBezTo>
                <a:lnTo>
                  <a:pt x="92789" y="112713"/>
                </a:lnTo>
                <a:cubicBezTo>
                  <a:pt x="116046" y="89456"/>
                  <a:pt x="147638" y="76359"/>
                  <a:pt x="180578" y="76359"/>
                </a:cubicBezTo>
                <a:cubicBezTo>
                  <a:pt x="249317" y="76359"/>
                  <a:pt x="304800" y="132398"/>
                  <a:pt x="304800" y="200898"/>
                </a:cubicBezTo>
                <a:cubicBezTo>
                  <a:pt x="304800" y="201930"/>
                  <a:pt x="304800" y="202962"/>
                  <a:pt x="304800" y="203994"/>
                </a:cubicBezTo>
                <a:cubicBezTo>
                  <a:pt x="304483" y="218043"/>
                  <a:pt x="292814" y="229076"/>
                  <a:pt x="278765" y="228759"/>
                </a:cubicBezTo>
                <a:cubicBezTo>
                  <a:pt x="264716" y="228441"/>
                  <a:pt x="253682" y="216773"/>
                  <a:pt x="254000" y="202724"/>
                </a:cubicBezTo>
                <a:cubicBezTo>
                  <a:pt x="254000" y="202089"/>
                  <a:pt x="254000" y="201533"/>
                  <a:pt x="254000" y="200898"/>
                </a:cubicBezTo>
                <a:cubicBezTo>
                  <a:pt x="254000" y="174149"/>
                  <a:pt x="239713" y="150654"/>
                  <a:pt x="218440" y="137716"/>
                </a:cubicBezTo>
                <a:close/>
              </a:path>
            </a:pathLst>
          </a:custGeom>
          <a:solidFill>
            <a:srgbClr val="1B4332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549400" y="67310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4332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Link-in-Bio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016000" y="7239000"/>
            <a:ext cx="419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Página personalizable con todos los enlaces importantes en un único lugar, accesible desde una URL.</a:t>
            </a:r>
            <a:endParaRPr lang="en-US" sz="1800" dirty="0">
              <a:latin typeface="Quattrocento Sans" panose="020B0502050000020003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778500" y="6477000"/>
            <a:ext cx="4699000" cy="20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981700" y="67310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254000" y="12700"/>
                </a:moveTo>
                <a:cubicBezTo>
                  <a:pt x="299561" y="12700"/>
                  <a:pt x="336550" y="49689"/>
                  <a:pt x="336550" y="95250"/>
                </a:cubicBezTo>
                <a:cubicBezTo>
                  <a:pt x="336550" y="140811"/>
                  <a:pt x="299561" y="177800"/>
                  <a:pt x="254000" y="177800"/>
                </a:cubicBezTo>
                <a:cubicBezTo>
                  <a:pt x="208439" y="177800"/>
                  <a:pt x="171450" y="140811"/>
                  <a:pt x="171450" y="95250"/>
                </a:cubicBezTo>
                <a:cubicBezTo>
                  <a:pt x="171450" y="49689"/>
                  <a:pt x="208439" y="12700"/>
                  <a:pt x="254000" y="12700"/>
                </a:cubicBezTo>
                <a:close/>
                <a:moveTo>
                  <a:pt x="76200" y="69850"/>
                </a:moveTo>
                <a:cubicBezTo>
                  <a:pt x="107742" y="69850"/>
                  <a:pt x="133350" y="95458"/>
                  <a:pt x="133350" y="127000"/>
                </a:cubicBezTo>
                <a:cubicBezTo>
                  <a:pt x="133350" y="158542"/>
                  <a:pt x="107742" y="184150"/>
                  <a:pt x="76200" y="184150"/>
                </a:cubicBezTo>
                <a:cubicBezTo>
                  <a:pt x="44658" y="184150"/>
                  <a:pt x="19050" y="158542"/>
                  <a:pt x="19050" y="127000"/>
                </a:cubicBezTo>
                <a:cubicBezTo>
                  <a:pt x="19050" y="95458"/>
                  <a:pt x="44658" y="69850"/>
                  <a:pt x="76200" y="69850"/>
                </a:cubicBezTo>
                <a:close/>
                <a:moveTo>
                  <a:pt x="0" y="330200"/>
                </a:moveTo>
                <a:cubicBezTo>
                  <a:pt x="0" y="274082"/>
                  <a:pt x="45482" y="228600"/>
                  <a:pt x="101600" y="228600"/>
                </a:cubicBezTo>
                <a:cubicBezTo>
                  <a:pt x="111760" y="228600"/>
                  <a:pt x="121603" y="230108"/>
                  <a:pt x="130889" y="232886"/>
                </a:cubicBezTo>
                <a:cubicBezTo>
                  <a:pt x="104775" y="262096"/>
                  <a:pt x="88900" y="300672"/>
                  <a:pt x="88900" y="342900"/>
                </a:cubicBezTo>
                <a:lnTo>
                  <a:pt x="88900" y="355600"/>
                </a:lnTo>
                <a:cubicBezTo>
                  <a:pt x="88900" y="364649"/>
                  <a:pt x="90805" y="373221"/>
                  <a:pt x="94218" y="381000"/>
                </a:cubicBezTo>
                <a:lnTo>
                  <a:pt x="25400" y="381000"/>
                </a:lnTo>
                <a:cubicBezTo>
                  <a:pt x="11351" y="381000"/>
                  <a:pt x="0" y="369649"/>
                  <a:pt x="0" y="355600"/>
                </a:cubicBezTo>
                <a:lnTo>
                  <a:pt x="0" y="330200"/>
                </a:lnTo>
                <a:close/>
                <a:moveTo>
                  <a:pt x="413782" y="381000"/>
                </a:moveTo>
                <a:cubicBezTo>
                  <a:pt x="417195" y="373221"/>
                  <a:pt x="419100" y="364649"/>
                  <a:pt x="419100" y="355600"/>
                </a:cubicBezTo>
                <a:lnTo>
                  <a:pt x="419100" y="342900"/>
                </a:lnTo>
                <a:cubicBezTo>
                  <a:pt x="419100" y="300673"/>
                  <a:pt x="403225" y="262096"/>
                  <a:pt x="377111" y="232886"/>
                </a:cubicBezTo>
                <a:cubicBezTo>
                  <a:pt x="386398" y="230108"/>
                  <a:pt x="396240" y="228600"/>
                  <a:pt x="406400" y="228600"/>
                </a:cubicBezTo>
                <a:cubicBezTo>
                  <a:pt x="462518" y="228600"/>
                  <a:pt x="508000" y="274082"/>
                  <a:pt x="508000" y="330200"/>
                </a:cubicBezTo>
                <a:lnTo>
                  <a:pt x="508000" y="355600"/>
                </a:lnTo>
                <a:cubicBezTo>
                  <a:pt x="508000" y="369649"/>
                  <a:pt x="496649" y="381000"/>
                  <a:pt x="482600" y="381000"/>
                </a:cubicBezTo>
                <a:lnTo>
                  <a:pt x="413782" y="381000"/>
                </a:lnTo>
                <a:close/>
                <a:moveTo>
                  <a:pt x="374650" y="127000"/>
                </a:moveTo>
                <a:cubicBezTo>
                  <a:pt x="374650" y="95458"/>
                  <a:pt x="400258" y="69850"/>
                  <a:pt x="431800" y="69850"/>
                </a:cubicBezTo>
                <a:cubicBezTo>
                  <a:pt x="463342" y="69850"/>
                  <a:pt x="488950" y="95458"/>
                  <a:pt x="488950" y="127000"/>
                </a:cubicBezTo>
                <a:cubicBezTo>
                  <a:pt x="488950" y="158542"/>
                  <a:pt x="463342" y="184150"/>
                  <a:pt x="431800" y="184150"/>
                </a:cubicBezTo>
                <a:cubicBezTo>
                  <a:pt x="400258" y="184150"/>
                  <a:pt x="374650" y="158542"/>
                  <a:pt x="374650" y="127000"/>
                </a:cubicBezTo>
                <a:close/>
                <a:moveTo>
                  <a:pt x="127000" y="342900"/>
                </a:moveTo>
                <a:cubicBezTo>
                  <a:pt x="127000" y="272733"/>
                  <a:pt x="183833" y="215900"/>
                  <a:pt x="254000" y="215900"/>
                </a:cubicBezTo>
                <a:cubicBezTo>
                  <a:pt x="324167" y="215900"/>
                  <a:pt x="381000" y="272733"/>
                  <a:pt x="381000" y="342900"/>
                </a:cubicBezTo>
                <a:lnTo>
                  <a:pt x="381000" y="355600"/>
                </a:lnTo>
                <a:cubicBezTo>
                  <a:pt x="381000" y="369649"/>
                  <a:pt x="369649" y="381000"/>
                  <a:pt x="355600" y="381000"/>
                </a:cubicBezTo>
                <a:lnTo>
                  <a:pt x="152400" y="381000"/>
                </a:lnTo>
                <a:cubicBezTo>
                  <a:pt x="138351" y="381000"/>
                  <a:pt x="127000" y="369649"/>
                  <a:pt x="127000" y="355600"/>
                </a:cubicBezTo>
                <a:lnTo>
                  <a:pt x="127000" y="342900"/>
                </a:lnTo>
                <a:close/>
              </a:path>
            </a:pathLst>
          </a:custGeom>
          <a:solidFill>
            <a:srgbClr val="1B4332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565900" y="67310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4332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Foros Comunitarios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032500" y="7239000"/>
            <a:ext cx="419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Espacio para plantear dudas y recibir respuestas de otros miembros, fomentando la colaboración.</a:t>
            </a:r>
            <a:endParaRPr lang="en-US" sz="1800" dirty="0">
              <a:latin typeface="Quattrocento Sans" panose="020B0502050000020003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10795000" y="6477000"/>
            <a:ext cx="4699000" cy="20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11049000" y="6731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06851" y="0"/>
                  <a:pt x="210503" y="794"/>
                  <a:pt x="213836" y="2302"/>
                </a:cubicBezTo>
                <a:lnTo>
                  <a:pt x="363379" y="65723"/>
                </a:lnTo>
                <a:cubicBezTo>
                  <a:pt x="380841" y="73104"/>
                  <a:pt x="393859" y="90329"/>
                  <a:pt x="393779" y="111125"/>
                </a:cubicBezTo>
                <a:cubicBezTo>
                  <a:pt x="393383" y="189865"/>
                  <a:pt x="360998" y="333931"/>
                  <a:pt x="224234" y="399415"/>
                </a:cubicBezTo>
                <a:cubicBezTo>
                  <a:pt x="210979" y="405765"/>
                  <a:pt x="195580" y="405765"/>
                  <a:pt x="182324" y="399415"/>
                </a:cubicBezTo>
                <a:cubicBezTo>
                  <a:pt x="45482" y="333931"/>
                  <a:pt x="13176" y="189865"/>
                  <a:pt x="12779" y="111125"/>
                </a:cubicBezTo>
                <a:cubicBezTo>
                  <a:pt x="12700" y="90329"/>
                  <a:pt x="25717" y="73104"/>
                  <a:pt x="43180" y="65723"/>
                </a:cubicBezTo>
                <a:lnTo>
                  <a:pt x="192643" y="2302"/>
                </a:lnTo>
                <a:cubicBezTo>
                  <a:pt x="195977" y="794"/>
                  <a:pt x="199549" y="0"/>
                  <a:pt x="203200" y="0"/>
                </a:cubicBezTo>
                <a:close/>
                <a:moveTo>
                  <a:pt x="203200" y="53022"/>
                </a:moveTo>
                <a:lnTo>
                  <a:pt x="203200" y="353139"/>
                </a:lnTo>
                <a:cubicBezTo>
                  <a:pt x="312738" y="300117"/>
                  <a:pt x="342186" y="182642"/>
                  <a:pt x="342900" y="112316"/>
                </a:cubicBezTo>
                <a:lnTo>
                  <a:pt x="203200" y="53102"/>
                </a:lnTo>
                <a:lnTo>
                  <a:pt x="203200" y="53102"/>
                </a:lnTo>
                <a:close/>
              </a:path>
            </a:pathLst>
          </a:custGeom>
          <a:solidFill>
            <a:srgbClr val="1B4332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1582400" y="67310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4332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Seguridad JWT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1049000" y="7239000"/>
            <a:ext cx="419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Autenticación robusta con tokens firmados, sesiones stateless y medidas de seguridad activas.</a:t>
            </a:r>
            <a:endParaRPr lang="en-US" sz="1800" dirty="0">
              <a:latin typeface="Quattrocento Sans" panose="020B0502050000020003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C757D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2 / 12</a:t>
            </a:r>
            <a:endParaRPr lang="en-US" sz="1400" dirty="0">
              <a:latin typeface="Quattrocento Sans" panose="020B0502050000020003" pitchFamily="34" charset="0"/>
            </a:endParaRPr>
          </a:p>
        </p:txBody>
      </p:sp>
      <p:pic>
        <p:nvPicPr>
          <p:cNvPr id="1026" name="Picture 2" descr="Gui contenido - Icono gratis PNG, SVG">
            <a:extLst>
              <a:ext uri="{FF2B5EF4-FFF2-40B4-BE49-F238E27FC236}">
                <a16:creationId xmlns:a16="http://schemas.microsoft.com/office/drawing/2014/main" id="{934A6ACB-EB53-312C-7DA7-FA89F029F0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69" y="698500"/>
            <a:ext cx="447554" cy="447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3">
            <a:extLst>
              <a:ext uri="{FF2B5EF4-FFF2-40B4-BE49-F238E27FC236}">
                <a16:creationId xmlns:a16="http://schemas.microsoft.com/office/drawing/2014/main" id="{1D0A1312-7A94-7248-A3AE-7D71FC9C3150}"/>
              </a:ext>
            </a:extLst>
          </p:cNvPr>
          <p:cNvSpPr/>
          <p:nvPr/>
        </p:nvSpPr>
        <p:spPr>
          <a:xfrm>
            <a:off x="0" y="-552"/>
            <a:ext cx="2032000" cy="508000"/>
          </a:xfrm>
          <a:prstGeom prst="rect">
            <a:avLst/>
          </a:prstGeom>
          <a:solidFill>
            <a:srgbClr val="1B4332"/>
          </a:solidFill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chemeClr val="bg1"/>
                </a:solidFill>
                <a:latin typeface="Quattrocento Sans" panose="020B0502050000020003" pitchFamily="34" charset="0"/>
              </a:rPr>
              <a:t>CONTEXTO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77156" y="73082"/>
            <a:ext cx="1879600" cy="355600"/>
          </a:xfrm>
          <a:prstGeom prst="roundRect">
            <a:avLst>
              <a:gd name="adj" fmla="val 8000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 lang="es-ES">
              <a:solidFill>
                <a:schemeClr val="bg1"/>
              </a:solidFill>
              <a:latin typeface="Quattrocento Sans" panose="020B0502050000020003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56" y="-3118"/>
            <a:ext cx="2032000" cy="508000"/>
          </a:xfrm>
          <a:prstGeom prst="rect">
            <a:avLst/>
          </a:prstGeom>
          <a:solidFill>
            <a:srgbClr val="1B4332"/>
          </a:solidFill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chemeClr val="bg1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METODOLOGÍAS</a:t>
            </a:r>
            <a:endParaRPr lang="en-US" sz="1200" dirty="0">
              <a:solidFill>
                <a:schemeClr val="bg1"/>
              </a:solidFill>
              <a:latin typeface="Quattrocento Sans" panose="020B0502050000020003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62000" y="736600"/>
            <a:ext cx="50800" cy="35560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65200" y="6985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4332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Metodologías de Gestión y Diseño</a:t>
            </a:r>
            <a:endParaRPr lang="en-US" sz="2800" dirty="0">
              <a:latin typeface="Quattrocento Sans" panose="020B0502050000020003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62000" y="1397000"/>
            <a:ext cx="4699000" cy="355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44575" y="15875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0" y="85725"/>
                </a:moveTo>
                <a:cubicBezTo>
                  <a:pt x="0" y="54203"/>
                  <a:pt x="25628" y="28575"/>
                  <a:pt x="57150" y="28575"/>
                </a:cubicBezTo>
                <a:lnTo>
                  <a:pt x="342900" y="28575"/>
                </a:lnTo>
                <a:cubicBezTo>
                  <a:pt x="374422" y="28575"/>
                  <a:pt x="400050" y="54203"/>
                  <a:pt x="400050" y="85725"/>
                </a:cubicBezTo>
                <a:lnTo>
                  <a:pt x="400050" y="371475"/>
                </a:lnTo>
                <a:cubicBezTo>
                  <a:pt x="400050" y="402997"/>
                  <a:pt x="374422" y="428625"/>
                  <a:pt x="342900" y="428625"/>
                </a:cubicBezTo>
                <a:lnTo>
                  <a:pt x="57150" y="428625"/>
                </a:lnTo>
                <a:cubicBezTo>
                  <a:pt x="25628" y="428625"/>
                  <a:pt x="0" y="402997"/>
                  <a:pt x="0" y="371475"/>
                </a:cubicBezTo>
                <a:lnTo>
                  <a:pt x="0" y="85725"/>
                </a:lnTo>
                <a:close/>
                <a:moveTo>
                  <a:pt x="57150" y="142875"/>
                </a:moveTo>
                <a:lnTo>
                  <a:pt x="57150" y="371475"/>
                </a:lnTo>
                <a:lnTo>
                  <a:pt x="171450" y="371475"/>
                </a:lnTo>
                <a:lnTo>
                  <a:pt x="171450" y="142875"/>
                </a:lnTo>
                <a:lnTo>
                  <a:pt x="57150" y="142875"/>
                </a:lnTo>
                <a:close/>
                <a:moveTo>
                  <a:pt x="342900" y="142875"/>
                </a:moveTo>
                <a:lnTo>
                  <a:pt x="228600" y="142875"/>
                </a:lnTo>
                <a:lnTo>
                  <a:pt x="228600" y="371475"/>
                </a:lnTo>
                <a:lnTo>
                  <a:pt x="342900" y="371475"/>
                </a:lnTo>
                <a:lnTo>
                  <a:pt x="342900" y="142875"/>
                </a:ln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16000" y="21590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4332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Kanban &amp; Jira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16000" y="2641600"/>
            <a:ext cx="4191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Control del flujo mediante estados:</a:t>
            </a:r>
            <a:endParaRPr lang="en-US" sz="1800" dirty="0">
              <a:latin typeface="Quattrocento Sans" panose="020B0502050000020003" pitchFamily="34" charset="0"/>
            </a:endParaRPr>
          </a:p>
          <a:p>
            <a:pPr marL="285750" indent="-285750">
              <a:lnSpc>
                <a:spcPct val="145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b="1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To-Do</a:t>
            </a: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: Por Hacer</a:t>
            </a:r>
            <a:endParaRPr lang="en-US" sz="1800" dirty="0">
              <a:latin typeface="Quattrocento Sans" panose="020B0502050000020003" pitchFamily="34" charset="0"/>
            </a:endParaRPr>
          </a:p>
          <a:p>
            <a:pPr marL="285750" indent="-285750">
              <a:lnSpc>
                <a:spcPct val="145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b="1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In Progress</a:t>
            </a: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: En cursor</a:t>
            </a:r>
            <a:endParaRPr lang="en-US" sz="1800" dirty="0">
              <a:latin typeface="Quattrocento Sans" panose="020B0502050000020003" pitchFamily="34" charset="0"/>
            </a:endParaRPr>
          </a:p>
          <a:p>
            <a:pPr marL="285750" indent="-285750">
              <a:lnSpc>
                <a:spcPct val="145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b="1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Review</a:t>
            </a: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: En revisión</a:t>
            </a:r>
            <a:endParaRPr lang="en-US" sz="1800" dirty="0">
              <a:latin typeface="Quattrocento Sans" panose="020B0502050000020003" pitchFamily="34" charset="0"/>
            </a:endParaRPr>
          </a:p>
          <a:p>
            <a:pPr marL="285750" indent="-285750">
              <a:lnSpc>
                <a:spcPct val="145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b="1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Done</a:t>
            </a: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: </a:t>
            </a:r>
            <a:r>
              <a:rPr lang="en-US" sz="1500" dirty="0" err="1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Finalizado</a:t>
            </a:r>
            <a:endParaRPr lang="en-US" sz="1800" dirty="0">
              <a:latin typeface="Quattrocento Sans" panose="020B0502050000020003" pitchFamily="34" charset="0"/>
            </a:endParaRPr>
          </a:p>
          <a:p>
            <a:pPr>
              <a:lnSpc>
                <a:spcPct val="145000"/>
              </a:lnSpc>
              <a:spcBef>
                <a:spcPts val="400"/>
              </a:spcBef>
            </a:pP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Evita cuellos de botella.</a:t>
            </a:r>
            <a:endParaRPr lang="en-US" sz="1800" dirty="0">
              <a:latin typeface="Quattrocento Sans" panose="020B0502050000020003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778500" y="1397000"/>
            <a:ext cx="4699000" cy="355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032500" y="1587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28714" y="171450"/>
                </a:moveTo>
                <a:lnTo>
                  <a:pt x="435769" y="171450"/>
                </a:lnTo>
                <a:cubicBezTo>
                  <a:pt x="447645" y="171450"/>
                  <a:pt x="457200" y="161895"/>
                  <a:pt x="457200" y="150019"/>
                </a:cubicBezTo>
                <a:lnTo>
                  <a:pt x="457200" y="21431"/>
                </a:lnTo>
                <a:cubicBezTo>
                  <a:pt x="457200" y="12769"/>
                  <a:pt x="452021" y="4911"/>
                  <a:pt x="443984" y="1607"/>
                </a:cubicBezTo>
                <a:cubicBezTo>
                  <a:pt x="435947" y="-1697"/>
                  <a:pt x="426750" y="179"/>
                  <a:pt x="420588" y="6251"/>
                </a:cubicBezTo>
                <a:lnTo>
                  <a:pt x="374422" y="52507"/>
                </a:lnTo>
                <a:cubicBezTo>
                  <a:pt x="334863" y="19735"/>
                  <a:pt x="283964" y="0"/>
                  <a:pt x="228600" y="0"/>
                </a:cubicBezTo>
                <a:cubicBezTo>
                  <a:pt x="113407" y="0"/>
                  <a:pt x="18127" y="85189"/>
                  <a:pt x="2322" y="196007"/>
                </a:cubicBezTo>
                <a:cubicBezTo>
                  <a:pt x="89" y="211634"/>
                  <a:pt x="10894" y="226100"/>
                  <a:pt x="26521" y="228332"/>
                </a:cubicBezTo>
                <a:cubicBezTo>
                  <a:pt x="42148" y="230565"/>
                  <a:pt x="56614" y="219670"/>
                  <a:pt x="58847" y="204133"/>
                </a:cubicBezTo>
                <a:cubicBezTo>
                  <a:pt x="70723" y="120997"/>
                  <a:pt x="142250" y="57150"/>
                  <a:pt x="228600" y="57150"/>
                </a:cubicBezTo>
                <a:cubicBezTo>
                  <a:pt x="268248" y="57150"/>
                  <a:pt x="304681" y="70545"/>
                  <a:pt x="333702" y="93137"/>
                </a:cubicBezTo>
                <a:lnTo>
                  <a:pt x="292001" y="134838"/>
                </a:lnTo>
                <a:cubicBezTo>
                  <a:pt x="285839" y="141000"/>
                  <a:pt x="284053" y="150197"/>
                  <a:pt x="287357" y="158234"/>
                </a:cubicBezTo>
                <a:cubicBezTo>
                  <a:pt x="290661" y="166271"/>
                  <a:pt x="298519" y="171450"/>
                  <a:pt x="307181" y="171450"/>
                </a:cubicBezTo>
                <a:lnTo>
                  <a:pt x="428714" y="171450"/>
                </a:lnTo>
                <a:close/>
                <a:moveTo>
                  <a:pt x="454968" y="261193"/>
                </a:moveTo>
                <a:cubicBezTo>
                  <a:pt x="457200" y="245566"/>
                  <a:pt x="446306" y="231100"/>
                  <a:pt x="430768" y="228868"/>
                </a:cubicBezTo>
                <a:cubicBezTo>
                  <a:pt x="415230" y="226635"/>
                  <a:pt x="400675" y="237530"/>
                  <a:pt x="398443" y="253067"/>
                </a:cubicBezTo>
                <a:cubicBezTo>
                  <a:pt x="386566" y="336113"/>
                  <a:pt x="315039" y="399961"/>
                  <a:pt x="228689" y="399961"/>
                </a:cubicBezTo>
                <a:cubicBezTo>
                  <a:pt x="189041" y="399961"/>
                  <a:pt x="152608" y="386566"/>
                  <a:pt x="123587" y="363974"/>
                </a:cubicBezTo>
                <a:lnTo>
                  <a:pt x="165199" y="322362"/>
                </a:lnTo>
                <a:cubicBezTo>
                  <a:pt x="171361" y="316200"/>
                  <a:pt x="173147" y="307003"/>
                  <a:pt x="169843" y="298966"/>
                </a:cubicBezTo>
                <a:cubicBezTo>
                  <a:pt x="166539" y="290929"/>
                  <a:pt x="158681" y="285750"/>
                  <a:pt x="150019" y="285750"/>
                </a:cubicBezTo>
                <a:lnTo>
                  <a:pt x="21431" y="285750"/>
                </a:lnTo>
                <a:cubicBezTo>
                  <a:pt x="9555" y="285750"/>
                  <a:pt x="0" y="295305"/>
                  <a:pt x="0" y="307181"/>
                </a:cubicBezTo>
                <a:lnTo>
                  <a:pt x="0" y="435769"/>
                </a:lnTo>
                <a:cubicBezTo>
                  <a:pt x="0" y="444431"/>
                  <a:pt x="5179" y="452289"/>
                  <a:pt x="13216" y="455593"/>
                </a:cubicBezTo>
                <a:cubicBezTo>
                  <a:pt x="21253" y="458897"/>
                  <a:pt x="30450" y="457021"/>
                  <a:pt x="36612" y="450949"/>
                </a:cubicBezTo>
                <a:lnTo>
                  <a:pt x="82867" y="404693"/>
                </a:lnTo>
                <a:cubicBezTo>
                  <a:pt x="122337" y="437465"/>
                  <a:pt x="173236" y="457200"/>
                  <a:pt x="228600" y="457200"/>
                </a:cubicBezTo>
                <a:cubicBezTo>
                  <a:pt x="343793" y="457200"/>
                  <a:pt x="439073" y="372011"/>
                  <a:pt x="454878" y="261193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032500" y="21590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4332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Scrum-Light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032500" y="2641600"/>
            <a:ext cx="4191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Ciclos de retroalimentación rápidos para validación de componentes.</a:t>
            </a:r>
            <a:endParaRPr lang="en-US" sz="1800" dirty="0">
              <a:latin typeface="Quattrocento Sans" panose="020B0502050000020003" pitchFamily="34" charset="0"/>
            </a:endParaRPr>
          </a:p>
          <a:p>
            <a:pPr>
              <a:lnSpc>
                <a:spcPct val="145000"/>
              </a:lnSpc>
              <a:spcBef>
                <a:spcPts val="400"/>
              </a:spcBef>
            </a:pP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Permiten:</a:t>
            </a:r>
            <a:endParaRPr lang="en-US" sz="1800" dirty="0">
              <a:latin typeface="Quattrocento Sans" panose="020B0502050000020003" pitchFamily="34" charset="0"/>
            </a:endParaRPr>
          </a:p>
          <a:p>
            <a:pPr marL="285750" indent="-285750">
              <a:lnSpc>
                <a:spcPct val="145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Detectar problemas temprano</a:t>
            </a:r>
            <a:endParaRPr lang="en-US" sz="1800" dirty="0">
              <a:latin typeface="Quattrocento Sans" panose="020B0502050000020003" pitchFamily="34" charset="0"/>
            </a:endParaRPr>
          </a:p>
          <a:p>
            <a:pPr marL="285750" indent="-285750">
              <a:lnSpc>
                <a:spcPct val="145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Adaptar requisitos</a:t>
            </a:r>
            <a:endParaRPr lang="en-US" sz="1800" dirty="0">
              <a:latin typeface="Quattrocento Sans" panose="020B0502050000020003" pitchFamily="34" charset="0"/>
            </a:endParaRPr>
          </a:p>
          <a:p>
            <a:pPr marL="285750" indent="-285750">
              <a:lnSpc>
                <a:spcPct val="145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Entregar valor incremental</a:t>
            </a:r>
            <a:endParaRPr lang="en-US" sz="1800" dirty="0">
              <a:latin typeface="Quattrocento Sans" panose="020B0502050000020003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0795000" y="1397000"/>
            <a:ext cx="4699000" cy="355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1106150" y="15875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14288" y="57150"/>
                </a:moveTo>
                <a:cubicBezTo>
                  <a:pt x="14288" y="25628"/>
                  <a:pt x="39916" y="0"/>
                  <a:pt x="71438" y="0"/>
                </a:cubicBezTo>
                <a:lnTo>
                  <a:pt x="271463" y="0"/>
                </a:lnTo>
                <a:cubicBezTo>
                  <a:pt x="302984" y="0"/>
                  <a:pt x="328613" y="25628"/>
                  <a:pt x="328613" y="57150"/>
                </a:cubicBezTo>
                <a:lnTo>
                  <a:pt x="328613" y="400050"/>
                </a:lnTo>
                <a:cubicBezTo>
                  <a:pt x="328613" y="431572"/>
                  <a:pt x="302984" y="457200"/>
                  <a:pt x="271463" y="457200"/>
                </a:cubicBezTo>
                <a:lnTo>
                  <a:pt x="71438" y="457200"/>
                </a:lnTo>
                <a:cubicBezTo>
                  <a:pt x="39916" y="457200"/>
                  <a:pt x="14288" y="431572"/>
                  <a:pt x="14288" y="400050"/>
                </a:cubicBezTo>
                <a:lnTo>
                  <a:pt x="14288" y="57150"/>
                </a:lnTo>
                <a:close/>
                <a:moveTo>
                  <a:pt x="114300" y="392906"/>
                </a:moveTo>
                <a:cubicBezTo>
                  <a:pt x="114300" y="404783"/>
                  <a:pt x="123855" y="414338"/>
                  <a:pt x="135731" y="414338"/>
                </a:cubicBezTo>
                <a:lnTo>
                  <a:pt x="207169" y="414338"/>
                </a:lnTo>
                <a:cubicBezTo>
                  <a:pt x="219045" y="414338"/>
                  <a:pt x="228600" y="404783"/>
                  <a:pt x="228600" y="392906"/>
                </a:cubicBezTo>
                <a:cubicBezTo>
                  <a:pt x="228600" y="381030"/>
                  <a:pt x="219045" y="371475"/>
                  <a:pt x="207169" y="371475"/>
                </a:cubicBezTo>
                <a:lnTo>
                  <a:pt x="135731" y="371475"/>
                </a:lnTo>
                <a:cubicBezTo>
                  <a:pt x="123855" y="371475"/>
                  <a:pt x="114300" y="381030"/>
                  <a:pt x="114300" y="392906"/>
                </a:cubicBezTo>
                <a:close/>
                <a:moveTo>
                  <a:pt x="271463" y="57150"/>
                </a:moveTo>
                <a:lnTo>
                  <a:pt x="71438" y="57150"/>
                </a:lnTo>
                <a:lnTo>
                  <a:pt x="71438" y="328613"/>
                </a:lnTo>
                <a:lnTo>
                  <a:pt x="271463" y="328613"/>
                </a:lnTo>
                <a:lnTo>
                  <a:pt x="271463" y="57150"/>
                </a:ln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049000" y="21590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4332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Mobile-First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1049000" y="2641600"/>
            <a:ext cx="4191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Desarrollo desde la resolución más baja hacia escritorio.</a:t>
            </a:r>
            <a:endParaRPr lang="en-US" sz="1800" dirty="0">
              <a:latin typeface="Quattrocento Sans" panose="020B0502050000020003" pitchFamily="34" charset="0"/>
            </a:endParaRPr>
          </a:p>
          <a:p>
            <a:pPr>
              <a:lnSpc>
                <a:spcPct val="145000"/>
              </a:lnSpc>
              <a:spcBef>
                <a:spcPts val="400"/>
              </a:spcBef>
            </a:pP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Garantiza:</a:t>
            </a:r>
            <a:endParaRPr lang="en-US" sz="1800" dirty="0">
              <a:latin typeface="Quattrocento Sans" panose="020B0502050000020003" pitchFamily="34" charset="0"/>
            </a:endParaRPr>
          </a:p>
          <a:p>
            <a:pPr marL="285750" indent="-285750">
              <a:lnSpc>
                <a:spcPct val="145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Experiencia óptima en móviles</a:t>
            </a:r>
            <a:endParaRPr lang="en-US" sz="1800" dirty="0">
              <a:latin typeface="Quattrocento Sans" panose="020B0502050000020003" pitchFamily="34" charset="0"/>
            </a:endParaRPr>
          </a:p>
          <a:p>
            <a:pPr marL="285750" indent="-285750">
              <a:lnSpc>
                <a:spcPct val="145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Progressive enhancement</a:t>
            </a:r>
            <a:endParaRPr lang="en-US" sz="1800" dirty="0">
              <a:latin typeface="Quattrocento Sans" panose="020B0502050000020003" pitchFamily="34" charset="0"/>
            </a:endParaRPr>
          </a:p>
          <a:p>
            <a:pPr marL="285750" indent="-285750">
              <a:lnSpc>
                <a:spcPct val="145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Mayor cobertura de usuarios</a:t>
            </a:r>
            <a:endParaRPr lang="en-US" sz="1800" dirty="0">
              <a:latin typeface="Quattrocento Sans" panose="020B0502050000020003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62000" y="5207000"/>
            <a:ext cx="14732000" cy="25400"/>
          </a:xfrm>
          <a:prstGeom prst="rect">
            <a:avLst/>
          </a:prstGeom>
          <a:solidFill>
            <a:srgbClr val="E9ECEF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62000" y="5397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6C757D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Stack Tecnológico</a:t>
            </a:r>
            <a:endParaRPr lang="en-US" sz="2000" dirty="0">
              <a:latin typeface="Quattrocento Sans" panose="020B0502050000020003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62000" y="5969000"/>
            <a:ext cx="1651000" cy="457200"/>
          </a:xfrm>
          <a:prstGeom prst="roundRect">
            <a:avLst>
              <a:gd name="adj" fmla="val 16000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62000" y="5969000"/>
            <a:ext cx="165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React</a:t>
            </a:r>
            <a:endParaRPr lang="en-US" sz="1400" dirty="0">
              <a:latin typeface="Quattrocento Sans" panose="020B0502050000020003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603500" y="596900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603500" y="5969000"/>
            <a:ext cx="228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Node.js</a:t>
            </a:r>
            <a:endParaRPr lang="en-US" sz="1400" dirty="0">
              <a:latin typeface="Quattrocento Sans" panose="020B0502050000020003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080000" y="5969000"/>
            <a:ext cx="1778000" cy="457200"/>
          </a:xfrm>
          <a:prstGeom prst="roundRect">
            <a:avLst>
              <a:gd name="adj" fmla="val 16000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080000" y="596900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PostgreSQL</a:t>
            </a:r>
            <a:endParaRPr lang="en-US" sz="1400" dirty="0">
              <a:latin typeface="Quattrocento Sans" panose="020B0502050000020003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048500" y="5969000"/>
            <a:ext cx="1651000" cy="457200"/>
          </a:xfrm>
          <a:prstGeom prst="roundRect">
            <a:avLst>
              <a:gd name="adj" fmla="val 16000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048500" y="5969000"/>
            <a:ext cx="165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Docker</a:t>
            </a:r>
            <a:endParaRPr lang="en-US" sz="1400" dirty="0">
              <a:latin typeface="Quattrocento Sans" panose="020B0502050000020003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62000" y="6667500"/>
            <a:ext cx="1473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Frontend:</a:t>
            </a:r>
            <a:r>
              <a:rPr lang="en-US" sz="16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 React + Vite — SPA de alto rendimiento con componentes reutilizables.</a:t>
            </a:r>
            <a:endParaRPr lang="en-US" sz="1800" dirty="0">
              <a:latin typeface="Quattrocento Sans" panose="020B0502050000020003" pitchFamily="34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Backend:</a:t>
            </a:r>
            <a:r>
              <a:rPr lang="en-US" sz="16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 Node.js + Express.js — arquitectura ligera y escalable con eventos asíncronos.</a:t>
            </a:r>
            <a:endParaRPr lang="en-US" sz="1800" dirty="0">
              <a:latin typeface="Quattrocento Sans" panose="020B0502050000020003" pitchFamily="34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Base de datos:</a:t>
            </a:r>
            <a:r>
              <a:rPr lang="en-US" sz="16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 PostgreSQL— modelo relacional robusto con migraciones automáticas.</a:t>
            </a:r>
            <a:endParaRPr lang="en-US" sz="1800" dirty="0">
              <a:latin typeface="Quattrocento Sans" panose="020B0502050000020003" pitchFamily="34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Despliegue:</a:t>
            </a:r>
            <a:r>
              <a:rPr lang="en-US" sz="16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 Docker + Nginx — contenedores para entornos idénticos y proxy inverso.</a:t>
            </a:r>
            <a:endParaRPr lang="en-US" sz="1800" dirty="0">
              <a:latin typeface="Quattrocento Sans" panose="020B0502050000020003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C757D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3 / 12</a:t>
            </a:r>
            <a:endParaRPr lang="en-US" sz="1400" dirty="0">
              <a:latin typeface="Quattrocento Sans" panose="020B0502050000020003" pitchFamily="34" charset="0"/>
            </a:endParaRPr>
          </a:p>
        </p:txBody>
      </p:sp>
      <p:pic>
        <p:nvPicPr>
          <p:cNvPr id="2050" name="Picture 2" descr="Metodología - Iconos gratis de negocios y finanzas">
            <a:extLst>
              <a:ext uri="{FF2B5EF4-FFF2-40B4-BE49-F238E27FC236}">
                <a16:creationId xmlns:a16="http://schemas.microsoft.com/office/drawing/2014/main" id="{ABA753C5-4F07-6FC1-71A9-6B24339921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685800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0"/>
          <p:cNvSpPr/>
          <p:nvPr/>
        </p:nvSpPr>
        <p:spPr>
          <a:xfrm>
            <a:off x="762000" y="736600"/>
            <a:ext cx="50800" cy="35560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65200" y="6985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4332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Construcción del Backend: El Núcleo de Datos</a:t>
            </a:r>
            <a:endParaRPr lang="en-US" sz="2800" dirty="0">
              <a:latin typeface="Quattrocento Sans" panose="020B0502050000020003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62000" y="1397000"/>
            <a:ext cx="7112000" cy="444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B4332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Arquitectura de Servidor</a:t>
            </a:r>
            <a:endParaRPr lang="en-US" sz="1800" dirty="0">
              <a:latin typeface="Quattrocento Sans" panose="020B05020500000200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Node.js + Express.js con arquitectura de eventos asíncrona, ideal para MVPs de alto rendimiento.</a:t>
            </a:r>
            <a:endParaRPr lang="en-US" sz="1800" dirty="0">
              <a:latin typeface="Quattrocento Sans" panose="020B0502050000020003" pitchFamily="34" charset="0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1B4332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Capa de Persistencia</a:t>
            </a:r>
            <a:endParaRPr lang="en-US" sz="1800" dirty="0">
              <a:latin typeface="Quattrocento Sans" panose="020B05020500000200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PostgreSQL gestionado mediante Sequelize ORM para modelos relacionales y migraciones automáticas.</a:t>
            </a:r>
            <a:endParaRPr lang="en-US" sz="1800" dirty="0">
              <a:latin typeface="Quattrocento Sans" panose="020B0502050000020003" pitchFamily="34" charset="0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1B4332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Lógica de Seguridad</a:t>
            </a:r>
            <a:endParaRPr lang="en-US" sz="1800" dirty="0">
              <a:latin typeface="Quattrocento Sans" panose="020B05020500000200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r>
              <a:rPr lang="en-US" sz="1600" b="1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Bcrypt</a:t>
            </a:r>
            <a:r>
              <a:rPr lang="en-US" sz="16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: Hashing de credenciales con salt</a:t>
            </a:r>
            <a:endParaRPr lang="en-US" sz="1800" dirty="0">
              <a:latin typeface="Quattrocento Sans" panose="020B05020500000200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r>
              <a:rPr lang="en-US" sz="1600" b="1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JWT</a:t>
            </a:r>
            <a:r>
              <a:rPr lang="en-US" sz="16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: Sesiones stateless con tokens firmados</a:t>
            </a:r>
            <a:endParaRPr lang="en-US" sz="1800" dirty="0">
              <a:latin typeface="Quattrocento Sans" panose="020B05020500000200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r>
              <a:rPr lang="en-US" sz="1600" b="1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Refresh Token</a:t>
            </a:r>
            <a:r>
              <a:rPr lang="en-US" sz="16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: Renovación de credenciales sin reautenticación</a:t>
            </a:r>
            <a:endParaRPr lang="en-US" sz="1800" dirty="0">
              <a:latin typeface="Quattrocento Sans" panose="020B05020500000200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636000" y="13970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6C757D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Flujo de Petición</a:t>
            </a:r>
            <a:endParaRPr lang="en-US" sz="2000" dirty="0">
              <a:latin typeface="Quattrocento Sans" panose="020B0502050000020003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144000" y="1968500"/>
            <a:ext cx="5588000" cy="635000"/>
          </a:xfrm>
          <a:prstGeom prst="roundRect">
            <a:avLst>
              <a:gd name="adj" fmla="val 10000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144000" y="1968500"/>
            <a:ext cx="558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Petición HTTP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1912600" y="2603500"/>
            <a:ext cx="0" cy="381000"/>
          </a:xfrm>
          <a:prstGeom prst="straightConnector1">
            <a:avLst/>
          </a:prstGeom>
          <a:noFill/>
          <a:ln w="25400">
            <a:solidFill>
              <a:srgbClr val="6C757D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144000" y="2984500"/>
            <a:ext cx="5588000" cy="635000"/>
          </a:xfrm>
          <a:prstGeom prst="roundRect">
            <a:avLst>
              <a:gd name="adj" fmla="val 10000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144000" y="2984500"/>
            <a:ext cx="558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Express Router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1912600" y="3619500"/>
            <a:ext cx="0" cy="381000"/>
          </a:xfrm>
          <a:prstGeom prst="straightConnector1">
            <a:avLst/>
          </a:prstGeom>
          <a:noFill/>
          <a:ln w="25400">
            <a:solidFill>
              <a:srgbClr val="6C757D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144000" y="4000500"/>
            <a:ext cx="5588000" cy="635000"/>
          </a:xfrm>
          <a:prstGeom prst="roundRect">
            <a:avLst>
              <a:gd name="adj" fmla="val 10000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144000" y="4000500"/>
            <a:ext cx="558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Controller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1912600" y="4635500"/>
            <a:ext cx="0" cy="381000"/>
          </a:xfrm>
          <a:prstGeom prst="straightConnector1">
            <a:avLst/>
          </a:prstGeom>
          <a:noFill/>
          <a:ln w="25400">
            <a:solidFill>
              <a:srgbClr val="6C757D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144000" y="5016500"/>
            <a:ext cx="5588000" cy="635000"/>
          </a:xfrm>
          <a:prstGeom prst="roundRect">
            <a:avLst>
              <a:gd name="adj" fmla="val 10000"/>
            </a:avLst>
          </a:prstGeom>
          <a:solidFill>
            <a:srgbClr val="2D6A4F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144000" y="5016500"/>
            <a:ext cx="558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Service + Repository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1912600" y="5651500"/>
            <a:ext cx="0" cy="381000"/>
          </a:xfrm>
          <a:prstGeom prst="straightConnector1">
            <a:avLst/>
          </a:prstGeom>
          <a:noFill/>
          <a:ln w="25400">
            <a:solidFill>
              <a:srgbClr val="6C757D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9144000" y="6032500"/>
            <a:ext cx="5588000" cy="635000"/>
          </a:xfrm>
          <a:prstGeom prst="roundRect">
            <a:avLst>
              <a:gd name="adj" fmla="val 10000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9144000" y="6032500"/>
            <a:ext cx="558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Sequelize Model → PostgreSQL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762000" y="7048500"/>
            <a:ext cx="14732000" cy="1143000"/>
          </a:xfrm>
          <a:prstGeom prst="roundRect">
            <a:avLst>
              <a:gd name="adj" fmla="val 6000"/>
            </a:avLst>
          </a:prstGeom>
          <a:solidFill>
            <a:srgbClr val="E9ECEF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016000" y="71120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B4332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Patrón CSR:</a:t>
            </a:r>
            <a:r>
              <a:rPr lang="en-US" sz="16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 La separación en Controller-Service-Repository garantiza que cada capa tenga una única responsabilidad, facilitando el mantenimiento y los tests unitarios.</a:t>
            </a:r>
            <a:endParaRPr lang="en-US" sz="1800" dirty="0">
              <a:latin typeface="Quattrocento Sans" panose="020B0502050000020003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C757D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4 / 12</a:t>
            </a:r>
            <a:endParaRPr lang="en-US" sz="1400" dirty="0">
              <a:latin typeface="Quattrocento Sans" panose="020B0502050000020003" pitchFamily="34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A3A637F-8CD1-CACB-5B99-F449B114E7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50" y="647700"/>
            <a:ext cx="444500" cy="44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hape 1">
            <a:extLst>
              <a:ext uri="{FF2B5EF4-FFF2-40B4-BE49-F238E27FC236}">
                <a16:creationId xmlns:a16="http://schemas.microsoft.com/office/drawing/2014/main" id="{F3D46686-65B7-B057-08B4-FC44506CD5D0}"/>
              </a:ext>
            </a:extLst>
          </p:cNvPr>
          <p:cNvSpPr/>
          <p:nvPr/>
        </p:nvSpPr>
        <p:spPr>
          <a:xfrm>
            <a:off x="76200" y="76200"/>
            <a:ext cx="1879600" cy="355600"/>
          </a:xfrm>
          <a:prstGeom prst="roundRect">
            <a:avLst>
              <a:gd name="adj" fmla="val 8000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 lang="es-ES">
              <a:solidFill>
                <a:schemeClr val="bg1"/>
              </a:solidFill>
              <a:latin typeface="Quattrocento Sans" panose="020B0502050000020003" pitchFamily="34" charset="0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CC7ABED1-C88B-0964-0B5D-B06E19AE587D}"/>
              </a:ext>
            </a:extLst>
          </p:cNvPr>
          <p:cNvSpPr/>
          <p:nvPr/>
        </p:nvSpPr>
        <p:spPr>
          <a:xfrm>
            <a:off x="0" y="0"/>
            <a:ext cx="2032000" cy="508000"/>
          </a:xfrm>
          <a:prstGeom prst="rect">
            <a:avLst/>
          </a:prstGeom>
          <a:solidFill>
            <a:srgbClr val="1B4332"/>
          </a:solidFill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chemeClr val="bg1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BACKEND</a:t>
            </a:r>
            <a:endParaRPr lang="en-US" sz="1200" dirty="0">
              <a:solidFill>
                <a:schemeClr val="bg1"/>
              </a:solidFill>
              <a:latin typeface="Quattrocento Sans" panose="020B0502050000020003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76200" y="76200"/>
            <a:ext cx="1879600" cy="35560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s-ES">
              <a:solidFill>
                <a:schemeClr val="bg1"/>
              </a:solidFill>
              <a:latin typeface="Quattrocento Sans" panose="020B0502050000020003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0" y="0"/>
            <a:ext cx="2032000" cy="508000"/>
          </a:xfrm>
          <a:prstGeom prst="rect">
            <a:avLst/>
          </a:prstGeom>
          <a:solidFill>
            <a:srgbClr val="1B4332"/>
          </a:solidFill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chemeClr val="bg1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FRONTEND</a:t>
            </a:r>
            <a:endParaRPr lang="en-US" sz="1200" dirty="0">
              <a:solidFill>
                <a:schemeClr val="bg1"/>
              </a:solidFill>
              <a:latin typeface="Quattrocento Sans" panose="020B0502050000020003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62000" y="736600"/>
            <a:ext cx="50800" cy="35560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65200" y="6985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4332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Construcción del Frontend: Experiencia de Usuario</a:t>
            </a:r>
            <a:endParaRPr lang="en-US" sz="2800" dirty="0">
              <a:latin typeface="Quattrocento Sans" panose="020B0502050000020003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62000" y="1397000"/>
            <a:ext cx="7112000" cy="527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B4332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Lógica de Componentes</a:t>
            </a:r>
            <a:endParaRPr lang="en-US" sz="1800" dirty="0">
              <a:latin typeface="Quattrocento Sans" panose="020B05020500000200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React + Vite para una SPA (Single Page Application) de alto rendimiento con carga rápida y hot module replacement.</a:t>
            </a:r>
            <a:endParaRPr lang="en-US" sz="1800" dirty="0">
              <a:latin typeface="Quattrocento Sans" panose="020B0502050000020003" pitchFamily="34" charset="0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1B4332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Gestión de Estado</a:t>
            </a:r>
            <a:endParaRPr lang="en-US" sz="1800" dirty="0">
              <a:latin typeface="Quattrocento Sans" panose="020B05020500000200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Context API centraliza la información del usuario, eliminando el "prop drilling (</a:t>
            </a:r>
            <a:r>
              <a:rPr lang="en-US" sz="1600" dirty="0" err="1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transpaso</a:t>
            </a:r>
            <a:r>
              <a:rPr lang="en-US" sz="16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 de </a:t>
            </a:r>
            <a:r>
              <a:rPr lang="en-US" sz="1600" dirty="0" err="1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datos</a:t>
            </a:r>
            <a:r>
              <a:rPr lang="en-US" sz="16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)" entre componentes.</a:t>
            </a:r>
            <a:endParaRPr lang="en-US" sz="1800" dirty="0">
              <a:latin typeface="Quattrocento Sans" panose="020B0502050000020003" pitchFamily="34" charset="0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600" b="1" dirty="0" err="1">
                <a:solidFill>
                  <a:srgbClr val="1B4332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Estilizado</a:t>
            </a:r>
            <a:r>
              <a:rPr lang="en-US" sz="1600" b="1" dirty="0">
                <a:solidFill>
                  <a:srgbClr val="1B4332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600" b="1" dirty="0" err="1">
                <a:solidFill>
                  <a:srgbClr val="1B4332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Programático</a:t>
            </a:r>
            <a:endParaRPr lang="en-US" sz="1800" dirty="0">
              <a:latin typeface="Quattrocento Sans" panose="020B05020500000200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r>
              <a:rPr lang="en-US" sz="1600" b="1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Tailwind CSS</a:t>
            </a:r>
            <a:r>
              <a:rPr lang="en-US" sz="16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: </a:t>
            </a:r>
            <a:r>
              <a:rPr lang="en-US" sz="1600" dirty="0" err="1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Diseño</a:t>
            </a:r>
            <a:r>
              <a:rPr lang="en-US" sz="16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600" dirty="0" err="1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atómico</a:t>
            </a:r>
            <a:r>
              <a:rPr lang="en-US" sz="16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 y utility-first</a:t>
            </a:r>
            <a:endParaRPr lang="en-US" dirty="0">
              <a:latin typeface="Quattrocento Sans" panose="020B05020500000200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r>
              <a:rPr lang="en-US" sz="1600" b="1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Material UI</a:t>
            </a:r>
            <a:r>
              <a:rPr lang="en-US" sz="16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: </a:t>
            </a:r>
            <a:r>
              <a:rPr lang="en-US" sz="1600" dirty="0" err="1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Componentes</a:t>
            </a:r>
            <a:r>
              <a:rPr lang="en-US" sz="16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600" dirty="0" err="1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complejos</a:t>
            </a:r>
            <a:r>
              <a:rPr lang="en-US" sz="16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 (</a:t>
            </a:r>
            <a:r>
              <a:rPr lang="en-US" sz="1600" dirty="0" err="1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modales</a:t>
            </a:r>
            <a:r>
              <a:rPr lang="en-US" sz="16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)</a:t>
            </a:r>
            <a:endParaRPr lang="en-US" sz="1800" dirty="0">
              <a:latin typeface="Quattrocento Sans" panose="020B0502050000020003" pitchFamily="34" charset="0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600" b="1" dirty="0" err="1">
                <a:solidFill>
                  <a:srgbClr val="1B4332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Patrones</a:t>
            </a:r>
            <a:r>
              <a:rPr lang="en-US" sz="1600" b="1" dirty="0">
                <a:solidFill>
                  <a:srgbClr val="1B4332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 Frontend</a:t>
            </a:r>
            <a:endParaRPr lang="en-US" sz="1800" dirty="0">
              <a:latin typeface="Quattrocento Sans" panose="020B05020500000200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• Composición de Componentes</a:t>
            </a:r>
            <a:endParaRPr lang="en-US" sz="1800" dirty="0">
              <a:latin typeface="Quattrocento Sans" panose="020B05020500000200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• Patrón Proveedor (Provider)</a:t>
            </a:r>
            <a:endParaRPr lang="en-US" sz="1800" dirty="0">
              <a:latin typeface="Quattrocento Sans" panose="020B05020500000200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• Enrutamiento del lado del Cliente</a:t>
            </a:r>
            <a:endParaRPr lang="en-US" sz="1800" dirty="0">
              <a:latin typeface="Quattrocento Sans" panose="020B05020500000200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636000" y="13970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6C757D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Árbol de Componentes</a:t>
            </a:r>
            <a:endParaRPr lang="en-US" sz="2000" dirty="0">
              <a:latin typeface="Quattrocento Sans" panose="020B0502050000020003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0541000" y="1968500"/>
            <a:ext cx="2794000" cy="558800"/>
          </a:xfrm>
          <a:prstGeom prst="roundRect">
            <a:avLst>
              <a:gd name="adj" fmla="val 10000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541000" y="1968500"/>
            <a:ext cx="2794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App (Context Provider)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1938000" y="2527300"/>
            <a:ext cx="0" cy="317500"/>
          </a:xfrm>
          <a:prstGeom prst="straightConnector1">
            <a:avLst/>
          </a:prstGeom>
          <a:noFill/>
          <a:ln w="25400">
            <a:solidFill>
              <a:srgbClr val="6C757D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0795000" y="2844800"/>
            <a:ext cx="2286000" cy="508000"/>
          </a:xfrm>
          <a:prstGeom prst="roundRect">
            <a:avLst>
              <a:gd name="adj" fmla="val 10000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795000" y="284480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Router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1938000" y="3352800"/>
            <a:ext cx="0" cy="254000"/>
          </a:xfrm>
          <a:prstGeom prst="straightConnector1">
            <a:avLst/>
          </a:prstGeom>
          <a:noFill/>
          <a:ln w="25400">
            <a:solidFill>
              <a:srgbClr val="6C757D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0795000" y="3606800"/>
            <a:ext cx="2286000" cy="508000"/>
          </a:xfrm>
          <a:prstGeom prst="roundRect">
            <a:avLst>
              <a:gd name="adj" fmla="val 10000"/>
            </a:avLst>
          </a:prstGeom>
          <a:solidFill>
            <a:srgbClr val="2D6A4F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795000" y="360680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Layout (Header + Main)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 flipH="1">
            <a:off x="10160000" y="4114800"/>
            <a:ext cx="1823718" cy="355600"/>
          </a:xfrm>
          <a:prstGeom prst="straightConnector1">
            <a:avLst/>
          </a:prstGeom>
          <a:noFill/>
          <a:ln w="12700">
            <a:solidFill>
              <a:srgbClr val="6C757D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1938000" y="4114800"/>
            <a:ext cx="1905000" cy="381000"/>
          </a:xfrm>
          <a:prstGeom prst="straightConnector1">
            <a:avLst/>
          </a:prstGeom>
          <a:noFill/>
          <a:ln w="12700">
            <a:solidFill>
              <a:srgbClr val="6C757D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890000" y="4495800"/>
            <a:ext cx="2032000" cy="457200"/>
          </a:xfrm>
          <a:prstGeom prst="roundRect">
            <a:avLst>
              <a:gd name="adj" fmla="val 10000"/>
            </a:avLst>
          </a:prstGeom>
          <a:solidFill>
            <a:srgbClr val="E9ECEF"/>
          </a:solidFill>
          <a:ln w="127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890000" y="4495800"/>
            <a:ext cx="20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212529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Pages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2954000" y="4495800"/>
            <a:ext cx="2032000" cy="457200"/>
          </a:xfrm>
          <a:prstGeom prst="roundRect">
            <a:avLst>
              <a:gd name="adj" fmla="val 10000"/>
            </a:avLst>
          </a:prstGeom>
          <a:solidFill>
            <a:srgbClr val="E9ECEF"/>
          </a:solidFill>
          <a:ln w="127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2954000" y="4495800"/>
            <a:ext cx="20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212529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Components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636000" y="5207000"/>
            <a:ext cx="1016000" cy="381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636000" y="5207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Home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9842500" y="5207000"/>
            <a:ext cx="1143000" cy="381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842500" y="5207000"/>
            <a:ext cx="114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Profile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12700000" y="5207000"/>
            <a:ext cx="1016000" cy="381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2700000" y="5207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Auth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13906500" y="5207000"/>
            <a:ext cx="1016000" cy="381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3906500" y="5207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SEO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890000" y="59690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6C757D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Leyenda:</a:t>
            </a:r>
            <a:r>
              <a:rPr lang="en-US" sz="1400" dirty="0">
                <a:solidFill>
                  <a:srgbClr val="6C757D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 El estado global fluye desde App hacia todos los componentes.</a:t>
            </a:r>
            <a:endParaRPr lang="en-US" sz="1400" dirty="0">
              <a:latin typeface="Quattrocento Sans" panose="020B0502050000020003" pitchFamily="34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762000" y="6731000"/>
            <a:ext cx="14732000" cy="1397000"/>
          </a:xfrm>
          <a:prstGeom prst="roundRect">
            <a:avLst>
              <a:gd name="adj" fmla="val 6000"/>
            </a:avLst>
          </a:prstGeom>
          <a:solidFill>
            <a:srgbClr val="E9ECEF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016000" y="6858000"/>
            <a:ext cx="1422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B4332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Ventaja clave:</a:t>
            </a:r>
            <a:r>
              <a:rPr lang="en-US" sz="16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 La combinación de React + Vite + Tailwind CSS permite un desarrollo ágil con componentes reutilizables, estilos consistentes y tiempos de build mínimos. Material UI aporta componentes complejos probados y accesibles.</a:t>
            </a:r>
            <a:endParaRPr lang="en-US" sz="1800" dirty="0">
              <a:latin typeface="Quattrocento Sans" panose="020B0502050000020003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C757D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5 / 12</a:t>
            </a:r>
            <a:endParaRPr lang="en-US" sz="1400" dirty="0">
              <a:latin typeface="Quattrocento Sans" panose="020B0502050000020003" pitchFamily="34" charset="0"/>
            </a:endParaRPr>
          </a:p>
        </p:txBody>
      </p:sp>
      <p:pic>
        <p:nvPicPr>
          <p:cNvPr id="4098" name="Picture 2" descr="Front-End Icons - Free SVG &amp; PNG Front-End Images - Noun Project">
            <a:extLst>
              <a:ext uri="{FF2B5EF4-FFF2-40B4-BE49-F238E27FC236}">
                <a16:creationId xmlns:a16="http://schemas.microsoft.com/office/drawing/2014/main" id="{7D355C38-EE55-4F29-13CE-4F5A0AB3EC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673100"/>
            <a:ext cx="482600" cy="48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76200" y="76200"/>
            <a:ext cx="1879600" cy="355600"/>
          </a:xfrm>
          <a:prstGeom prst="roundRect">
            <a:avLst>
              <a:gd name="adj" fmla="val 8000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 lang="es-ES">
              <a:solidFill>
                <a:schemeClr val="bg1"/>
              </a:solidFill>
              <a:latin typeface="Quattrocento Sans" panose="020B05020500000200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0" y="0"/>
            <a:ext cx="2032000" cy="508000"/>
          </a:xfrm>
          <a:prstGeom prst="rect">
            <a:avLst/>
          </a:prstGeom>
          <a:solidFill>
            <a:srgbClr val="1B4332"/>
          </a:solidFill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chemeClr val="bg1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APIs</a:t>
            </a:r>
            <a:endParaRPr lang="en-US" sz="1200" dirty="0">
              <a:solidFill>
                <a:schemeClr val="bg1"/>
              </a:solidFill>
              <a:latin typeface="Quattrocento Sans" panose="020B0502050000020003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62000" y="736600"/>
            <a:ext cx="50800" cy="35560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65200" y="6985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4332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Integración de APIs y Servicios Externos</a:t>
            </a:r>
            <a:endParaRPr lang="en-US" sz="2800" dirty="0">
              <a:latin typeface="Quattrocento Sans" panose="020B0502050000020003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62000" y="1397000"/>
            <a:ext cx="7112000" cy="317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90600" y="15875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114300" y="381000"/>
                </a:moveTo>
                <a:cubicBezTo>
                  <a:pt x="51197" y="381000"/>
                  <a:pt x="0" y="329803"/>
                  <a:pt x="0" y="266700"/>
                </a:cubicBezTo>
                <a:cubicBezTo>
                  <a:pt x="0" y="216376"/>
                  <a:pt x="32544" y="173673"/>
                  <a:pt x="77708" y="158353"/>
                </a:cubicBezTo>
                <a:cubicBezTo>
                  <a:pt x="76676" y="152241"/>
                  <a:pt x="76200" y="146050"/>
                  <a:pt x="76200" y="139700"/>
                </a:cubicBezTo>
                <a:cubicBezTo>
                  <a:pt x="76200" y="76597"/>
                  <a:pt x="127397" y="25400"/>
                  <a:pt x="190500" y="25400"/>
                </a:cubicBezTo>
                <a:cubicBezTo>
                  <a:pt x="234474" y="25400"/>
                  <a:pt x="272653" y="50244"/>
                  <a:pt x="291783" y="86598"/>
                </a:cubicBezTo>
                <a:cubicBezTo>
                  <a:pt x="303054" y="80010"/>
                  <a:pt x="316230" y="76200"/>
                  <a:pt x="330200" y="76200"/>
                </a:cubicBezTo>
                <a:cubicBezTo>
                  <a:pt x="372269" y="76200"/>
                  <a:pt x="406400" y="110331"/>
                  <a:pt x="406400" y="152400"/>
                </a:cubicBezTo>
                <a:cubicBezTo>
                  <a:pt x="406400" y="164862"/>
                  <a:pt x="403384" y="176689"/>
                  <a:pt x="398066" y="187087"/>
                </a:cubicBezTo>
                <a:cubicBezTo>
                  <a:pt x="432991" y="203200"/>
                  <a:pt x="457200" y="238442"/>
                  <a:pt x="457200" y="279400"/>
                </a:cubicBezTo>
                <a:cubicBezTo>
                  <a:pt x="457200" y="335518"/>
                  <a:pt x="411718" y="381000"/>
                  <a:pt x="355600" y="381000"/>
                </a:cubicBezTo>
                <a:lnTo>
                  <a:pt x="114300" y="381000"/>
                </a:lnTo>
                <a:close/>
                <a:moveTo>
                  <a:pt x="242094" y="151606"/>
                </a:moveTo>
                <a:cubicBezTo>
                  <a:pt x="234633" y="144145"/>
                  <a:pt x="222567" y="144145"/>
                  <a:pt x="215186" y="151606"/>
                </a:cubicBezTo>
                <a:lnTo>
                  <a:pt x="158036" y="208756"/>
                </a:lnTo>
                <a:cubicBezTo>
                  <a:pt x="150574" y="216218"/>
                  <a:pt x="150574" y="228283"/>
                  <a:pt x="158036" y="235664"/>
                </a:cubicBezTo>
                <a:cubicBezTo>
                  <a:pt x="165497" y="243046"/>
                  <a:pt x="177562" y="243126"/>
                  <a:pt x="184944" y="235664"/>
                </a:cubicBezTo>
                <a:lnTo>
                  <a:pt x="209550" y="211058"/>
                </a:lnTo>
                <a:lnTo>
                  <a:pt x="209550" y="292100"/>
                </a:lnTo>
                <a:cubicBezTo>
                  <a:pt x="209550" y="302657"/>
                  <a:pt x="218043" y="311150"/>
                  <a:pt x="228600" y="311150"/>
                </a:cubicBezTo>
                <a:cubicBezTo>
                  <a:pt x="239157" y="311150"/>
                  <a:pt x="247650" y="302657"/>
                  <a:pt x="247650" y="292100"/>
                </a:cubicBezTo>
                <a:lnTo>
                  <a:pt x="247650" y="211058"/>
                </a:lnTo>
                <a:lnTo>
                  <a:pt x="272256" y="235664"/>
                </a:lnTo>
                <a:cubicBezTo>
                  <a:pt x="279717" y="243126"/>
                  <a:pt x="291783" y="243126"/>
                  <a:pt x="299164" y="235664"/>
                </a:cubicBezTo>
                <a:cubicBezTo>
                  <a:pt x="306546" y="228203"/>
                  <a:pt x="306626" y="216138"/>
                  <a:pt x="299164" y="208756"/>
                </a:cubicBezTo>
                <a:lnTo>
                  <a:pt x="242014" y="151606"/>
                </a:ln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549400" y="1587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4332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Multer API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16000" y="2159000"/>
            <a:ext cx="6604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Gestión de archivos multimedia </a:t>
            </a:r>
            <a:r>
              <a:rPr lang="en-US" sz="1500" dirty="0" err="1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en</a:t>
            </a: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 local.</a:t>
            </a:r>
            <a:endParaRPr lang="en-US" sz="1800" dirty="0">
              <a:latin typeface="Quattrocento Sans" panose="020B0502050000020003" pitchFamily="34" charset="0"/>
            </a:endParaRPr>
          </a:p>
          <a:p>
            <a:pPr>
              <a:lnSpc>
                <a:spcPct val="145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Flujo:</a:t>
            </a:r>
            <a:endParaRPr lang="en-US" sz="1800" dirty="0">
              <a:latin typeface="Quattrocento Sans" panose="020B0502050000020003" pitchFamily="34" charset="0"/>
            </a:endParaRPr>
          </a:p>
          <a:p>
            <a:pPr marL="285750" indent="-285750">
              <a:lnSpc>
                <a:spcPct val="145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Backend firma la petición</a:t>
            </a:r>
            <a:endParaRPr lang="en-US" sz="1800" dirty="0">
              <a:latin typeface="Quattrocento Sans" panose="020B0502050000020003" pitchFamily="34" charset="0"/>
            </a:endParaRPr>
          </a:p>
          <a:p>
            <a:pPr marL="285750" indent="-285750">
              <a:lnSpc>
                <a:spcPct val="145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Frontend gestiona preview</a:t>
            </a:r>
            <a:endParaRPr lang="en-US" sz="1800" dirty="0">
              <a:latin typeface="Quattrocento Sans" panose="020B0502050000020003" pitchFamily="34" charset="0"/>
            </a:endParaRPr>
          </a:p>
          <a:p>
            <a:pPr marL="285750" indent="-285750">
              <a:lnSpc>
                <a:spcPct val="145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Archivo </a:t>
            </a:r>
            <a:r>
              <a:rPr lang="en-US" sz="1500" dirty="0" err="1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en</a:t>
            </a: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500" dirty="0" err="1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el</a:t>
            </a: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 backend/upload</a:t>
            </a:r>
            <a:endParaRPr lang="en-US" sz="1800" dirty="0">
              <a:latin typeface="Quattrocento Sans" panose="020B0502050000020003" pitchFamily="34" charset="0"/>
            </a:endParaRPr>
          </a:p>
          <a:p>
            <a:pPr marL="285750" indent="-285750">
              <a:lnSpc>
                <a:spcPct val="145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URL en PostgreSQL</a:t>
            </a:r>
            <a:endParaRPr lang="en-US" sz="1800" dirty="0">
              <a:latin typeface="Quattrocento Sans" panose="020B0502050000020003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382000" y="1397000"/>
            <a:ext cx="7112000" cy="317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636000" y="1587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50800"/>
                </a:moveTo>
                <a:cubicBezTo>
                  <a:pt x="22781" y="50800"/>
                  <a:pt x="0" y="73581"/>
                  <a:pt x="0" y="101600"/>
                </a:cubicBezTo>
                <a:lnTo>
                  <a:pt x="0" y="304800"/>
                </a:lnTo>
                <a:cubicBezTo>
                  <a:pt x="0" y="332819"/>
                  <a:pt x="22781" y="355600"/>
                  <a:pt x="50800" y="355600"/>
                </a:cubicBezTo>
                <a:lnTo>
                  <a:pt x="355600" y="355600"/>
                </a:lnTo>
                <a:cubicBezTo>
                  <a:pt x="383619" y="355600"/>
                  <a:pt x="406400" y="332819"/>
                  <a:pt x="406400" y="304800"/>
                </a:cubicBezTo>
                <a:lnTo>
                  <a:pt x="406400" y="101600"/>
                </a:lnTo>
                <a:cubicBezTo>
                  <a:pt x="406400" y="73581"/>
                  <a:pt x="383619" y="50800"/>
                  <a:pt x="355600" y="50800"/>
                </a:cubicBezTo>
                <a:lnTo>
                  <a:pt x="50800" y="50800"/>
                </a:lnTo>
                <a:close/>
                <a:moveTo>
                  <a:pt x="330200" y="146050"/>
                </a:moveTo>
                <a:lnTo>
                  <a:pt x="330200" y="260350"/>
                </a:lnTo>
                <a:cubicBezTo>
                  <a:pt x="330200" y="270907"/>
                  <a:pt x="321707" y="279400"/>
                  <a:pt x="311150" y="279400"/>
                </a:cubicBezTo>
                <a:cubicBezTo>
                  <a:pt x="305514" y="279400"/>
                  <a:pt x="300434" y="276939"/>
                  <a:pt x="296942" y="273050"/>
                </a:cubicBezTo>
                <a:cubicBezTo>
                  <a:pt x="288846" y="277098"/>
                  <a:pt x="279638" y="279400"/>
                  <a:pt x="269875" y="279400"/>
                </a:cubicBezTo>
                <a:cubicBezTo>
                  <a:pt x="236538" y="279400"/>
                  <a:pt x="209550" y="252413"/>
                  <a:pt x="209550" y="219075"/>
                </a:cubicBezTo>
                <a:cubicBezTo>
                  <a:pt x="209550" y="185738"/>
                  <a:pt x="236538" y="158750"/>
                  <a:pt x="269875" y="158750"/>
                </a:cubicBezTo>
                <a:cubicBezTo>
                  <a:pt x="277733" y="158750"/>
                  <a:pt x="285194" y="160258"/>
                  <a:pt x="292100" y="162957"/>
                </a:cubicBezTo>
                <a:lnTo>
                  <a:pt x="292100" y="146050"/>
                </a:lnTo>
                <a:cubicBezTo>
                  <a:pt x="292100" y="135493"/>
                  <a:pt x="300593" y="127000"/>
                  <a:pt x="311150" y="127000"/>
                </a:cubicBezTo>
                <a:cubicBezTo>
                  <a:pt x="321707" y="127000"/>
                  <a:pt x="330200" y="135493"/>
                  <a:pt x="330200" y="146050"/>
                </a:cubicBezTo>
                <a:close/>
                <a:moveTo>
                  <a:pt x="292100" y="219075"/>
                </a:moveTo>
                <a:cubicBezTo>
                  <a:pt x="292100" y="206809"/>
                  <a:pt x="282141" y="196850"/>
                  <a:pt x="269875" y="196850"/>
                </a:cubicBezTo>
                <a:cubicBezTo>
                  <a:pt x="257609" y="196850"/>
                  <a:pt x="247650" y="206809"/>
                  <a:pt x="247650" y="219075"/>
                </a:cubicBezTo>
                <a:cubicBezTo>
                  <a:pt x="247650" y="231341"/>
                  <a:pt x="257609" y="241300"/>
                  <a:pt x="269875" y="241300"/>
                </a:cubicBezTo>
                <a:cubicBezTo>
                  <a:pt x="282141" y="241300"/>
                  <a:pt x="292100" y="231341"/>
                  <a:pt x="292100" y="219075"/>
                </a:cubicBezTo>
                <a:close/>
                <a:moveTo>
                  <a:pt x="127000" y="165100"/>
                </a:moveTo>
                <a:cubicBezTo>
                  <a:pt x="120015" y="165100"/>
                  <a:pt x="114300" y="170815"/>
                  <a:pt x="114300" y="177800"/>
                </a:cubicBezTo>
                <a:lnTo>
                  <a:pt x="114300" y="203200"/>
                </a:lnTo>
                <a:lnTo>
                  <a:pt x="152400" y="203200"/>
                </a:lnTo>
                <a:lnTo>
                  <a:pt x="152400" y="177800"/>
                </a:lnTo>
                <a:cubicBezTo>
                  <a:pt x="152400" y="170815"/>
                  <a:pt x="146685" y="165100"/>
                  <a:pt x="139700" y="165100"/>
                </a:cubicBezTo>
                <a:lnTo>
                  <a:pt x="127000" y="165100"/>
                </a:lnTo>
                <a:close/>
                <a:moveTo>
                  <a:pt x="152400" y="241300"/>
                </a:moveTo>
                <a:lnTo>
                  <a:pt x="114300" y="241300"/>
                </a:lnTo>
                <a:lnTo>
                  <a:pt x="114300" y="260350"/>
                </a:lnTo>
                <a:cubicBezTo>
                  <a:pt x="114300" y="270907"/>
                  <a:pt x="105807" y="279400"/>
                  <a:pt x="95250" y="279400"/>
                </a:cubicBezTo>
                <a:cubicBezTo>
                  <a:pt x="84693" y="279400"/>
                  <a:pt x="76200" y="270907"/>
                  <a:pt x="76200" y="260350"/>
                </a:cubicBezTo>
                <a:lnTo>
                  <a:pt x="76200" y="177800"/>
                </a:lnTo>
                <a:cubicBezTo>
                  <a:pt x="76200" y="149781"/>
                  <a:pt x="98981" y="127000"/>
                  <a:pt x="127000" y="127000"/>
                </a:cubicBezTo>
                <a:lnTo>
                  <a:pt x="139700" y="127000"/>
                </a:lnTo>
                <a:cubicBezTo>
                  <a:pt x="167719" y="127000"/>
                  <a:pt x="190500" y="149781"/>
                  <a:pt x="190500" y="177800"/>
                </a:cubicBezTo>
                <a:lnTo>
                  <a:pt x="190500" y="260350"/>
                </a:lnTo>
                <a:cubicBezTo>
                  <a:pt x="190500" y="270907"/>
                  <a:pt x="182007" y="279400"/>
                  <a:pt x="171450" y="279400"/>
                </a:cubicBezTo>
                <a:cubicBezTo>
                  <a:pt x="160893" y="279400"/>
                  <a:pt x="152400" y="270907"/>
                  <a:pt x="152400" y="260350"/>
                </a:cubicBezTo>
                <a:lnTo>
                  <a:pt x="152400" y="241300"/>
                </a:ln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169400" y="1587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4332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Google AdSense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636000" y="2159000"/>
            <a:ext cx="6604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Monetización orgánica del tráfico web.</a:t>
            </a:r>
            <a:endParaRPr lang="en-US" sz="1800" dirty="0">
              <a:latin typeface="Quattrocento Sans" panose="020B0502050000020003" pitchFamily="34" charset="0"/>
            </a:endParaRPr>
          </a:p>
          <a:p>
            <a:pPr>
              <a:lnSpc>
                <a:spcPct val="145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Implementación:</a:t>
            </a:r>
            <a:endParaRPr lang="en-US" sz="1800" dirty="0">
              <a:latin typeface="Quattrocento Sans" panose="020B0502050000020003" pitchFamily="34" charset="0"/>
            </a:endParaRPr>
          </a:p>
          <a:p>
            <a:pPr marL="285750" indent="-285750">
              <a:lnSpc>
                <a:spcPct val="145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Inyección dinámica de scripts (GA4.jsx)</a:t>
            </a:r>
            <a:endParaRPr lang="en-US" sz="1800" dirty="0">
              <a:latin typeface="Quattrocento Sans" panose="020B0502050000020003" pitchFamily="34" charset="0"/>
            </a:endParaRPr>
          </a:p>
          <a:p>
            <a:pPr marL="285750" indent="-285750">
              <a:lnSpc>
                <a:spcPct val="145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Seguimiento de pageviews</a:t>
            </a:r>
            <a:endParaRPr lang="en-US" sz="1800" dirty="0">
              <a:latin typeface="Quattrocento Sans" panose="020B0502050000020003" pitchFamily="34" charset="0"/>
            </a:endParaRPr>
          </a:p>
          <a:p>
            <a:pPr marL="285750" indent="-285750">
              <a:lnSpc>
                <a:spcPct val="145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Integración no intrusiva</a:t>
            </a:r>
            <a:endParaRPr lang="en-US" sz="1800" dirty="0">
              <a:latin typeface="Quattrocento Sans" panose="020B0502050000020003" pitchFamily="34" charset="0"/>
            </a:endParaRPr>
          </a:p>
          <a:p>
            <a:pPr marL="285750" indent="-285750">
              <a:lnSpc>
                <a:spcPct val="145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Respeto al consentimiento</a:t>
            </a:r>
            <a:endParaRPr lang="en-US" sz="1800" dirty="0">
              <a:latin typeface="Quattrocento Sans" panose="020B0502050000020003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62000" y="4889500"/>
            <a:ext cx="7112000" cy="317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016000" y="5080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06851" y="0"/>
                  <a:pt x="210503" y="794"/>
                  <a:pt x="213836" y="2302"/>
                </a:cubicBezTo>
                <a:lnTo>
                  <a:pt x="363379" y="65723"/>
                </a:lnTo>
                <a:cubicBezTo>
                  <a:pt x="380841" y="73104"/>
                  <a:pt x="393859" y="90329"/>
                  <a:pt x="393779" y="111125"/>
                </a:cubicBezTo>
                <a:cubicBezTo>
                  <a:pt x="393383" y="189865"/>
                  <a:pt x="360998" y="333931"/>
                  <a:pt x="224234" y="399415"/>
                </a:cubicBezTo>
                <a:cubicBezTo>
                  <a:pt x="210979" y="405765"/>
                  <a:pt x="195580" y="405765"/>
                  <a:pt x="182324" y="399415"/>
                </a:cubicBezTo>
                <a:cubicBezTo>
                  <a:pt x="45482" y="333931"/>
                  <a:pt x="13176" y="189865"/>
                  <a:pt x="12779" y="111125"/>
                </a:cubicBezTo>
                <a:cubicBezTo>
                  <a:pt x="12700" y="90329"/>
                  <a:pt x="25717" y="73104"/>
                  <a:pt x="43180" y="65723"/>
                </a:cubicBezTo>
                <a:lnTo>
                  <a:pt x="192643" y="2302"/>
                </a:lnTo>
                <a:cubicBezTo>
                  <a:pt x="195977" y="794"/>
                  <a:pt x="199549" y="0"/>
                  <a:pt x="203200" y="0"/>
                </a:cubicBezTo>
                <a:close/>
                <a:moveTo>
                  <a:pt x="203200" y="53022"/>
                </a:moveTo>
                <a:lnTo>
                  <a:pt x="203200" y="353139"/>
                </a:lnTo>
                <a:cubicBezTo>
                  <a:pt x="312738" y="300117"/>
                  <a:pt x="342186" y="182642"/>
                  <a:pt x="342900" y="112316"/>
                </a:cubicBezTo>
                <a:lnTo>
                  <a:pt x="203200" y="53102"/>
                </a:lnTo>
                <a:lnTo>
                  <a:pt x="203200" y="53102"/>
                </a:ln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549400" y="5080000"/>
            <a:ext cx="444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4332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Fetch Interceptors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016000" y="5651500"/>
            <a:ext cx="6604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Lógica centralizada para autenticación de peticiones.</a:t>
            </a:r>
            <a:endParaRPr lang="en-US" sz="1800" dirty="0">
              <a:latin typeface="Quattrocento Sans" panose="020B0502050000020003" pitchFamily="34" charset="0"/>
            </a:endParaRPr>
          </a:p>
          <a:p>
            <a:pPr>
              <a:lnSpc>
                <a:spcPct val="145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Funcionamiento:</a:t>
            </a:r>
            <a:endParaRPr lang="en-US" sz="1800" dirty="0">
              <a:latin typeface="Quattrocento Sans" panose="020B0502050000020003" pitchFamily="34" charset="0"/>
            </a:endParaRPr>
          </a:p>
          <a:p>
            <a:pPr marL="285750" indent="-285750">
              <a:lnSpc>
                <a:spcPct val="145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Adjunta JWT automáticamente</a:t>
            </a:r>
            <a:endParaRPr lang="en-US" sz="1800" dirty="0">
              <a:latin typeface="Quattrocento Sans" panose="020B0502050000020003" pitchFamily="34" charset="0"/>
            </a:endParaRPr>
          </a:p>
          <a:p>
            <a:pPr marL="285750" indent="-285750">
              <a:lnSpc>
                <a:spcPct val="145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Manejo global de errores 401/403</a:t>
            </a:r>
            <a:endParaRPr lang="en-US" sz="1800" dirty="0">
              <a:latin typeface="Quattrocento Sans" panose="020B0502050000020003" pitchFamily="34" charset="0"/>
            </a:endParaRPr>
          </a:p>
          <a:p>
            <a:pPr marL="285750" indent="-285750">
              <a:lnSpc>
                <a:spcPct val="145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Refresh token transparente</a:t>
            </a:r>
            <a:endParaRPr lang="en-US" sz="1800" dirty="0">
              <a:latin typeface="Quattrocento Sans" panose="020B0502050000020003" pitchFamily="34" charset="0"/>
            </a:endParaRPr>
          </a:p>
          <a:p>
            <a:pPr marL="285750" indent="-285750">
              <a:lnSpc>
                <a:spcPct val="145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Configuración reutilizable</a:t>
            </a:r>
            <a:endParaRPr lang="en-US" sz="1800" dirty="0">
              <a:latin typeface="Quattrocento Sans" panose="020B0502050000020003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382000" y="4889500"/>
            <a:ext cx="7112000" cy="317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636000" y="5080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30200" y="165100"/>
                </a:moveTo>
                <a:cubicBezTo>
                  <a:pt x="330200" y="201533"/>
                  <a:pt x="318373" y="235188"/>
                  <a:pt x="298450" y="262493"/>
                </a:cubicBezTo>
                <a:lnTo>
                  <a:pt x="398939" y="363061"/>
                </a:lnTo>
                <a:cubicBezTo>
                  <a:pt x="408861" y="372983"/>
                  <a:pt x="408861" y="389096"/>
                  <a:pt x="398939" y="399018"/>
                </a:cubicBezTo>
                <a:cubicBezTo>
                  <a:pt x="389017" y="408940"/>
                  <a:pt x="372904" y="408940"/>
                  <a:pt x="362982" y="399018"/>
                </a:cubicBezTo>
                <a:lnTo>
                  <a:pt x="262493" y="298450"/>
                </a:lnTo>
                <a:cubicBezTo>
                  <a:pt x="235188" y="318373"/>
                  <a:pt x="201533" y="330200"/>
                  <a:pt x="165100" y="330200"/>
                </a:cubicBezTo>
                <a:cubicBezTo>
                  <a:pt x="73898" y="330200"/>
                  <a:pt x="0" y="256302"/>
                  <a:pt x="0" y="165100"/>
                </a:cubicBezTo>
                <a:cubicBezTo>
                  <a:pt x="0" y="73898"/>
                  <a:pt x="73898" y="0"/>
                  <a:pt x="165100" y="0"/>
                </a:cubicBezTo>
                <a:cubicBezTo>
                  <a:pt x="256302" y="0"/>
                  <a:pt x="330200" y="73898"/>
                  <a:pt x="330200" y="165100"/>
                </a:cubicBezTo>
                <a:close/>
                <a:moveTo>
                  <a:pt x="82550" y="171450"/>
                </a:moveTo>
                <a:lnTo>
                  <a:pt x="82550" y="222250"/>
                </a:lnTo>
                <a:cubicBezTo>
                  <a:pt x="82550" y="232807"/>
                  <a:pt x="91043" y="241300"/>
                  <a:pt x="101600" y="241300"/>
                </a:cubicBezTo>
                <a:cubicBezTo>
                  <a:pt x="112157" y="241300"/>
                  <a:pt x="120650" y="232807"/>
                  <a:pt x="120650" y="222250"/>
                </a:cubicBezTo>
                <a:lnTo>
                  <a:pt x="120650" y="171450"/>
                </a:lnTo>
                <a:cubicBezTo>
                  <a:pt x="120650" y="160893"/>
                  <a:pt x="112157" y="152400"/>
                  <a:pt x="101600" y="152400"/>
                </a:cubicBezTo>
                <a:cubicBezTo>
                  <a:pt x="91043" y="152400"/>
                  <a:pt x="82550" y="160893"/>
                  <a:pt x="82550" y="171450"/>
                </a:cubicBezTo>
                <a:close/>
                <a:moveTo>
                  <a:pt x="146050" y="95250"/>
                </a:moveTo>
                <a:lnTo>
                  <a:pt x="146050" y="222250"/>
                </a:lnTo>
                <a:cubicBezTo>
                  <a:pt x="146050" y="232807"/>
                  <a:pt x="154543" y="241300"/>
                  <a:pt x="165100" y="241300"/>
                </a:cubicBezTo>
                <a:cubicBezTo>
                  <a:pt x="175657" y="241300"/>
                  <a:pt x="184150" y="232807"/>
                  <a:pt x="184150" y="222250"/>
                </a:cubicBezTo>
                <a:lnTo>
                  <a:pt x="184150" y="95250"/>
                </a:lnTo>
                <a:cubicBezTo>
                  <a:pt x="184150" y="84693"/>
                  <a:pt x="175657" y="76200"/>
                  <a:pt x="165100" y="76200"/>
                </a:cubicBezTo>
                <a:cubicBezTo>
                  <a:pt x="154543" y="76200"/>
                  <a:pt x="146050" y="84693"/>
                  <a:pt x="146050" y="95250"/>
                </a:cubicBezTo>
                <a:close/>
                <a:moveTo>
                  <a:pt x="209550" y="146050"/>
                </a:moveTo>
                <a:lnTo>
                  <a:pt x="209550" y="222250"/>
                </a:lnTo>
                <a:cubicBezTo>
                  <a:pt x="209550" y="232807"/>
                  <a:pt x="218043" y="241300"/>
                  <a:pt x="228600" y="241300"/>
                </a:cubicBezTo>
                <a:cubicBezTo>
                  <a:pt x="239157" y="241300"/>
                  <a:pt x="247650" y="232807"/>
                  <a:pt x="247650" y="222250"/>
                </a:cubicBezTo>
                <a:lnTo>
                  <a:pt x="247650" y="146050"/>
                </a:lnTo>
                <a:cubicBezTo>
                  <a:pt x="247650" y="135493"/>
                  <a:pt x="239157" y="127000"/>
                  <a:pt x="228600" y="127000"/>
                </a:cubicBezTo>
                <a:cubicBezTo>
                  <a:pt x="218043" y="127000"/>
                  <a:pt x="209550" y="135493"/>
                  <a:pt x="209550" y="146050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169400" y="5080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4332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SEO (SEO.jsx)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636000" y="5651500"/>
            <a:ext cx="6604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Optimización para motores de búsqueda.</a:t>
            </a:r>
            <a:endParaRPr lang="en-US" sz="1800" dirty="0">
              <a:latin typeface="Quattrocento Sans" panose="020B0502050000020003" pitchFamily="34" charset="0"/>
            </a:endParaRPr>
          </a:p>
          <a:p>
            <a:pPr>
              <a:lnSpc>
                <a:spcPct val="145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Características:</a:t>
            </a:r>
            <a:endParaRPr lang="en-US" sz="1800" dirty="0">
              <a:latin typeface="Quattrocento Sans" panose="020B0502050000020003" pitchFamily="34" charset="0"/>
            </a:endParaRPr>
          </a:p>
          <a:p>
            <a:pPr marL="285750" indent="-285750">
              <a:lnSpc>
                <a:spcPct val="145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Meta tags dinámicos por página</a:t>
            </a:r>
            <a:endParaRPr lang="en-US" sz="1800" dirty="0">
              <a:latin typeface="Quattrocento Sans" panose="020B0502050000020003" pitchFamily="34" charset="0"/>
            </a:endParaRPr>
          </a:p>
          <a:p>
            <a:pPr marL="285750" indent="-285750">
              <a:lnSpc>
                <a:spcPct val="145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Open Graph para redes sociales</a:t>
            </a:r>
            <a:endParaRPr lang="en-US" sz="1800" dirty="0">
              <a:latin typeface="Quattrocento Sans" panose="020B0502050000020003" pitchFamily="34" charset="0"/>
            </a:endParaRPr>
          </a:p>
          <a:p>
            <a:pPr marL="285750" indent="-285750">
              <a:lnSpc>
                <a:spcPct val="145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Directivas de rastreo</a:t>
            </a:r>
            <a:endParaRPr lang="en-US" sz="1800" dirty="0">
              <a:latin typeface="Quattrocento Sans" panose="020B0502050000020003" pitchFamily="34" charset="0"/>
            </a:endParaRPr>
          </a:p>
          <a:p>
            <a:pPr marL="285750" indent="-285750">
              <a:lnSpc>
                <a:spcPct val="145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Sitemap XML automático</a:t>
            </a:r>
            <a:endParaRPr lang="en-US" sz="1800" dirty="0">
              <a:latin typeface="Quattrocento Sans" panose="020B0502050000020003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C757D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6 / 12</a:t>
            </a:r>
            <a:endParaRPr lang="en-US" sz="1400" dirty="0">
              <a:latin typeface="Quattrocento Sans" panose="020B0502050000020003" pitchFamily="34" charset="0"/>
            </a:endParaRPr>
          </a:p>
        </p:txBody>
      </p:sp>
      <p:pic>
        <p:nvPicPr>
          <p:cNvPr id="5122" name="Picture 2" descr="API Icon SVG Vector &amp; PNG Free Download | UXWing">
            <a:extLst>
              <a:ext uri="{FF2B5EF4-FFF2-40B4-BE49-F238E27FC236}">
                <a16:creationId xmlns:a16="http://schemas.microsoft.com/office/drawing/2014/main" id="{56CA0D44-81C1-4CAF-93AF-C06498A8B4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787" y="711200"/>
            <a:ext cx="406400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76200" y="76200"/>
            <a:ext cx="1879600" cy="355600"/>
          </a:xfrm>
          <a:prstGeom prst="roundRect">
            <a:avLst>
              <a:gd name="adj" fmla="val 8000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 lang="es-ES">
              <a:solidFill>
                <a:schemeClr val="bg1"/>
              </a:solidFill>
              <a:latin typeface="Quattrocento Sans" panose="020B0502050000020003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0" y="0"/>
            <a:ext cx="2032000" cy="508000"/>
          </a:xfrm>
          <a:prstGeom prst="rect">
            <a:avLst/>
          </a:prstGeom>
          <a:solidFill>
            <a:srgbClr val="1B4332"/>
          </a:solidFill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chemeClr val="bg1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ARQUITECTURA</a:t>
            </a:r>
            <a:endParaRPr lang="en-US" sz="1200" dirty="0">
              <a:solidFill>
                <a:schemeClr val="bg1"/>
              </a:solidFill>
              <a:latin typeface="Quattrocento Sans" panose="020B0502050000020003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62000" y="736600"/>
            <a:ext cx="50800" cy="35560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65200" y="698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4332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Patrón de Diseño y Arquitectura de Software</a:t>
            </a:r>
            <a:endParaRPr lang="en-US" sz="2800" dirty="0">
              <a:latin typeface="Quattrocento Sans" panose="020B0502050000020003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62000" y="1397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6C757D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Patrón CSR (Controller-Service-Repository)</a:t>
            </a:r>
            <a:endParaRPr lang="en-US" sz="2000" dirty="0">
              <a:latin typeface="Quattrocento Sans" panose="020B0502050000020003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62000" y="1905000"/>
            <a:ext cx="6858000" cy="1016000"/>
          </a:xfrm>
          <a:prstGeom prst="roundRect">
            <a:avLst>
              <a:gd name="adj" fmla="val 6000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041400" y="21590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50800" y="25400"/>
                </a:moveTo>
                <a:cubicBezTo>
                  <a:pt x="22781" y="25400"/>
                  <a:pt x="0" y="48181"/>
                  <a:pt x="0" y="76200"/>
                </a:cubicBezTo>
                <a:lnTo>
                  <a:pt x="0" y="127000"/>
                </a:lnTo>
                <a:cubicBezTo>
                  <a:pt x="0" y="155019"/>
                  <a:pt x="22781" y="177800"/>
                  <a:pt x="50800" y="177800"/>
                </a:cubicBezTo>
                <a:lnTo>
                  <a:pt x="304800" y="177800"/>
                </a:lnTo>
                <a:cubicBezTo>
                  <a:pt x="332819" y="177800"/>
                  <a:pt x="355600" y="155019"/>
                  <a:pt x="355600" y="127000"/>
                </a:cubicBezTo>
                <a:lnTo>
                  <a:pt x="355600" y="76200"/>
                </a:lnTo>
                <a:cubicBezTo>
                  <a:pt x="355600" y="48181"/>
                  <a:pt x="332819" y="25400"/>
                  <a:pt x="304800" y="25400"/>
                </a:cubicBezTo>
                <a:lnTo>
                  <a:pt x="50800" y="25400"/>
                </a:lnTo>
                <a:close/>
                <a:moveTo>
                  <a:pt x="222250" y="82550"/>
                </a:moveTo>
                <a:cubicBezTo>
                  <a:pt x="232764" y="82550"/>
                  <a:pt x="241300" y="91086"/>
                  <a:pt x="241300" y="101600"/>
                </a:cubicBezTo>
                <a:cubicBezTo>
                  <a:pt x="241300" y="112114"/>
                  <a:pt x="232764" y="120650"/>
                  <a:pt x="222250" y="120650"/>
                </a:cubicBezTo>
                <a:cubicBezTo>
                  <a:pt x="211736" y="120650"/>
                  <a:pt x="203200" y="112114"/>
                  <a:pt x="203200" y="101600"/>
                </a:cubicBezTo>
                <a:cubicBezTo>
                  <a:pt x="203200" y="91086"/>
                  <a:pt x="211736" y="82550"/>
                  <a:pt x="222250" y="82550"/>
                </a:cubicBezTo>
                <a:close/>
                <a:moveTo>
                  <a:pt x="266700" y="101600"/>
                </a:moveTo>
                <a:cubicBezTo>
                  <a:pt x="266700" y="91086"/>
                  <a:pt x="275236" y="82550"/>
                  <a:pt x="285750" y="82550"/>
                </a:cubicBezTo>
                <a:cubicBezTo>
                  <a:pt x="296264" y="82550"/>
                  <a:pt x="304800" y="91086"/>
                  <a:pt x="304800" y="101600"/>
                </a:cubicBezTo>
                <a:cubicBezTo>
                  <a:pt x="304800" y="112114"/>
                  <a:pt x="296264" y="120650"/>
                  <a:pt x="285750" y="120650"/>
                </a:cubicBezTo>
                <a:cubicBezTo>
                  <a:pt x="275236" y="120650"/>
                  <a:pt x="266700" y="112114"/>
                  <a:pt x="266700" y="101600"/>
                </a:cubicBezTo>
                <a:close/>
                <a:moveTo>
                  <a:pt x="50800" y="228600"/>
                </a:moveTo>
                <a:cubicBezTo>
                  <a:pt x="22781" y="228600"/>
                  <a:pt x="0" y="251381"/>
                  <a:pt x="0" y="279400"/>
                </a:cubicBezTo>
                <a:lnTo>
                  <a:pt x="0" y="330200"/>
                </a:lnTo>
                <a:cubicBezTo>
                  <a:pt x="0" y="358219"/>
                  <a:pt x="22781" y="381000"/>
                  <a:pt x="50800" y="381000"/>
                </a:cubicBezTo>
                <a:lnTo>
                  <a:pt x="304800" y="381000"/>
                </a:lnTo>
                <a:cubicBezTo>
                  <a:pt x="332819" y="381000"/>
                  <a:pt x="355600" y="358219"/>
                  <a:pt x="355600" y="330200"/>
                </a:cubicBezTo>
                <a:lnTo>
                  <a:pt x="355600" y="279400"/>
                </a:lnTo>
                <a:cubicBezTo>
                  <a:pt x="355600" y="251381"/>
                  <a:pt x="332819" y="228600"/>
                  <a:pt x="304800" y="228600"/>
                </a:cubicBezTo>
                <a:lnTo>
                  <a:pt x="50800" y="228600"/>
                </a:lnTo>
                <a:close/>
                <a:moveTo>
                  <a:pt x="222250" y="285750"/>
                </a:moveTo>
                <a:cubicBezTo>
                  <a:pt x="232764" y="285750"/>
                  <a:pt x="241300" y="294286"/>
                  <a:pt x="241300" y="304800"/>
                </a:cubicBezTo>
                <a:cubicBezTo>
                  <a:pt x="241300" y="315314"/>
                  <a:pt x="232764" y="323850"/>
                  <a:pt x="222250" y="323850"/>
                </a:cubicBezTo>
                <a:cubicBezTo>
                  <a:pt x="211736" y="323850"/>
                  <a:pt x="203200" y="315314"/>
                  <a:pt x="203200" y="304800"/>
                </a:cubicBezTo>
                <a:cubicBezTo>
                  <a:pt x="203200" y="294286"/>
                  <a:pt x="211736" y="285750"/>
                  <a:pt x="222250" y="285750"/>
                </a:cubicBezTo>
                <a:close/>
                <a:moveTo>
                  <a:pt x="266700" y="304800"/>
                </a:moveTo>
                <a:cubicBezTo>
                  <a:pt x="266700" y="294286"/>
                  <a:pt x="275236" y="285750"/>
                  <a:pt x="285750" y="285750"/>
                </a:cubicBezTo>
                <a:cubicBezTo>
                  <a:pt x="296264" y="285750"/>
                  <a:pt x="304800" y="294286"/>
                  <a:pt x="304800" y="304800"/>
                </a:cubicBezTo>
                <a:cubicBezTo>
                  <a:pt x="304800" y="315314"/>
                  <a:pt x="296264" y="323850"/>
                  <a:pt x="285750" y="323850"/>
                </a:cubicBezTo>
                <a:cubicBezTo>
                  <a:pt x="275236" y="323850"/>
                  <a:pt x="266700" y="315314"/>
                  <a:pt x="266700" y="304800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549400" y="20066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Controller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549400" y="2387600"/>
            <a:ext cx="584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Gestión de rutas, validación de entrada y respuestas HTTP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064000" y="2921000"/>
            <a:ext cx="0" cy="317500"/>
          </a:xfrm>
          <a:prstGeom prst="straightConnector1">
            <a:avLst/>
          </a:prstGeom>
          <a:noFill/>
          <a:ln w="25400">
            <a:solidFill>
              <a:srgbClr val="2A9D8F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62000" y="3238500"/>
            <a:ext cx="6858000" cy="1016000"/>
          </a:xfrm>
          <a:prstGeom prst="roundRect">
            <a:avLst>
              <a:gd name="adj" fmla="val 6000"/>
            </a:avLst>
          </a:prstGeom>
          <a:solidFill>
            <a:srgbClr val="2D6A4F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65200" y="34925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330121" y="167084"/>
                </a:moveTo>
                <a:cubicBezTo>
                  <a:pt x="339804" y="164465"/>
                  <a:pt x="349964" y="169069"/>
                  <a:pt x="354330" y="178038"/>
                </a:cubicBezTo>
                <a:lnTo>
                  <a:pt x="369094" y="207883"/>
                </a:lnTo>
                <a:cubicBezTo>
                  <a:pt x="377269" y="208994"/>
                  <a:pt x="385286" y="211217"/>
                  <a:pt x="392827" y="214313"/>
                </a:cubicBezTo>
                <a:lnTo>
                  <a:pt x="420608" y="195818"/>
                </a:lnTo>
                <a:cubicBezTo>
                  <a:pt x="428943" y="190262"/>
                  <a:pt x="439976" y="191373"/>
                  <a:pt x="447040" y="198438"/>
                </a:cubicBezTo>
                <a:lnTo>
                  <a:pt x="462280" y="213678"/>
                </a:lnTo>
                <a:cubicBezTo>
                  <a:pt x="469344" y="220742"/>
                  <a:pt x="470456" y="231854"/>
                  <a:pt x="464899" y="240109"/>
                </a:cubicBezTo>
                <a:lnTo>
                  <a:pt x="446405" y="267811"/>
                </a:lnTo>
                <a:cubicBezTo>
                  <a:pt x="447913" y="271542"/>
                  <a:pt x="449263" y="275431"/>
                  <a:pt x="450374" y="279479"/>
                </a:cubicBezTo>
                <a:cubicBezTo>
                  <a:pt x="451485" y="283528"/>
                  <a:pt x="452199" y="287496"/>
                  <a:pt x="452755" y="291544"/>
                </a:cubicBezTo>
                <a:lnTo>
                  <a:pt x="482679" y="306308"/>
                </a:lnTo>
                <a:cubicBezTo>
                  <a:pt x="491649" y="310753"/>
                  <a:pt x="496253" y="320913"/>
                  <a:pt x="493633" y="330518"/>
                </a:cubicBezTo>
                <a:lnTo>
                  <a:pt x="488077" y="351314"/>
                </a:lnTo>
                <a:cubicBezTo>
                  <a:pt x="485458" y="360918"/>
                  <a:pt x="476488" y="367427"/>
                  <a:pt x="466487" y="366792"/>
                </a:cubicBezTo>
                <a:lnTo>
                  <a:pt x="433149" y="364649"/>
                </a:lnTo>
                <a:cubicBezTo>
                  <a:pt x="428149" y="371078"/>
                  <a:pt x="422354" y="377031"/>
                  <a:pt x="415766" y="382111"/>
                </a:cubicBezTo>
                <a:lnTo>
                  <a:pt x="417909" y="415369"/>
                </a:lnTo>
                <a:cubicBezTo>
                  <a:pt x="418544" y="425371"/>
                  <a:pt x="412036" y="434419"/>
                  <a:pt x="402431" y="436959"/>
                </a:cubicBezTo>
                <a:lnTo>
                  <a:pt x="381635" y="442516"/>
                </a:lnTo>
                <a:cubicBezTo>
                  <a:pt x="371951" y="445135"/>
                  <a:pt x="361871" y="440531"/>
                  <a:pt x="357426" y="431562"/>
                </a:cubicBezTo>
                <a:lnTo>
                  <a:pt x="342662" y="401717"/>
                </a:lnTo>
                <a:cubicBezTo>
                  <a:pt x="334486" y="400606"/>
                  <a:pt x="326469" y="398383"/>
                  <a:pt x="318929" y="395288"/>
                </a:cubicBezTo>
                <a:lnTo>
                  <a:pt x="291148" y="413782"/>
                </a:lnTo>
                <a:cubicBezTo>
                  <a:pt x="282813" y="419338"/>
                  <a:pt x="271780" y="418227"/>
                  <a:pt x="264716" y="411163"/>
                </a:cubicBezTo>
                <a:lnTo>
                  <a:pt x="249476" y="395923"/>
                </a:lnTo>
                <a:cubicBezTo>
                  <a:pt x="242411" y="388858"/>
                  <a:pt x="241300" y="377825"/>
                  <a:pt x="246856" y="369491"/>
                </a:cubicBezTo>
                <a:lnTo>
                  <a:pt x="265351" y="341709"/>
                </a:lnTo>
                <a:cubicBezTo>
                  <a:pt x="263843" y="337979"/>
                  <a:pt x="262493" y="334089"/>
                  <a:pt x="261382" y="330041"/>
                </a:cubicBezTo>
                <a:cubicBezTo>
                  <a:pt x="260271" y="325993"/>
                  <a:pt x="259556" y="321945"/>
                  <a:pt x="259001" y="317976"/>
                </a:cubicBezTo>
                <a:lnTo>
                  <a:pt x="229076" y="303213"/>
                </a:lnTo>
                <a:cubicBezTo>
                  <a:pt x="220107" y="298768"/>
                  <a:pt x="215583" y="288608"/>
                  <a:pt x="218123" y="279003"/>
                </a:cubicBezTo>
                <a:lnTo>
                  <a:pt x="223679" y="258207"/>
                </a:lnTo>
                <a:cubicBezTo>
                  <a:pt x="226298" y="248602"/>
                  <a:pt x="235268" y="242094"/>
                  <a:pt x="245269" y="242729"/>
                </a:cubicBezTo>
                <a:lnTo>
                  <a:pt x="278527" y="244872"/>
                </a:lnTo>
                <a:cubicBezTo>
                  <a:pt x="283528" y="238442"/>
                  <a:pt x="289322" y="232489"/>
                  <a:pt x="295910" y="227409"/>
                </a:cubicBezTo>
                <a:lnTo>
                  <a:pt x="293767" y="194231"/>
                </a:lnTo>
                <a:cubicBezTo>
                  <a:pt x="293132" y="184229"/>
                  <a:pt x="299641" y="175181"/>
                  <a:pt x="309245" y="172641"/>
                </a:cubicBezTo>
                <a:lnTo>
                  <a:pt x="330041" y="167084"/>
                </a:lnTo>
                <a:close/>
                <a:moveTo>
                  <a:pt x="355918" y="269875"/>
                </a:moveTo>
                <a:cubicBezTo>
                  <a:pt x="336642" y="269897"/>
                  <a:pt x="321010" y="285564"/>
                  <a:pt x="321032" y="304840"/>
                </a:cubicBezTo>
                <a:cubicBezTo>
                  <a:pt x="321054" y="324115"/>
                  <a:pt x="336721" y="339747"/>
                  <a:pt x="355997" y="339725"/>
                </a:cubicBezTo>
                <a:cubicBezTo>
                  <a:pt x="375273" y="339703"/>
                  <a:pt x="390904" y="324036"/>
                  <a:pt x="390882" y="304760"/>
                </a:cubicBezTo>
                <a:cubicBezTo>
                  <a:pt x="390860" y="285485"/>
                  <a:pt x="375193" y="269853"/>
                  <a:pt x="355918" y="269875"/>
                </a:cubicBezTo>
                <a:close/>
                <a:moveTo>
                  <a:pt x="178514" y="-36116"/>
                </a:moveTo>
                <a:lnTo>
                  <a:pt x="199311" y="-30559"/>
                </a:lnTo>
                <a:cubicBezTo>
                  <a:pt x="208915" y="-27940"/>
                  <a:pt x="215424" y="-18891"/>
                  <a:pt x="214789" y="-8969"/>
                </a:cubicBezTo>
                <a:lnTo>
                  <a:pt x="212646" y="24209"/>
                </a:lnTo>
                <a:cubicBezTo>
                  <a:pt x="219234" y="29289"/>
                  <a:pt x="225028" y="35163"/>
                  <a:pt x="230029" y="41672"/>
                </a:cubicBezTo>
                <a:lnTo>
                  <a:pt x="263366" y="39529"/>
                </a:lnTo>
                <a:cubicBezTo>
                  <a:pt x="273288" y="38894"/>
                  <a:pt x="282337" y="45403"/>
                  <a:pt x="284956" y="55007"/>
                </a:cubicBezTo>
                <a:lnTo>
                  <a:pt x="290513" y="75803"/>
                </a:lnTo>
                <a:cubicBezTo>
                  <a:pt x="293053" y="85408"/>
                  <a:pt x="288528" y="95568"/>
                  <a:pt x="279559" y="100013"/>
                </a:cubicBezTo>
                <a:lnTo>
                  <a:pt x="249634" y="114776"/>
                </a:lnTo>
                <a:cubicBezTo>
                  <a:pt x="249079" y="118824"/>
                  <a:pt x="248285" y="122873"/>
                  <a:pt x="247253" y="126841"/>
                </a:cubicBezTo>
                <a:cubicBezTo>
                  <a:pt x="246221" y="130810"/>
                  <a:pt x="244793" y="134779"/>
                  <a:pt x="243284" y="138509"/>
                </a:cubicBezTo>
                <a:lnTo>
                  <a:pt x="261779" y="166291"/>
                </a:lnTo>
                <a:cubicBezTo>
                  <a:pt x="267335" y="174625"/>
                  <a:pt x="266224" y="185658"/>
                  <a:pt x="259159" y="192722"/>
                </a:cubicBezTo>
                <a:lnTo>
                  <a:pt x="243919" y="207963"/>
                </a:lnTo>
                <a:cubicBezTo>
                  <a:pt x="236855" y="215027"/>
                  <a:pt x="225822" y="216138"/>
                  <a:pt x="217488" y="210582"/>
                </a:cubicBezTo>
                <a:lnTo>
                  <a:pt x="189706" y="192088"/>
                </a:lnTo>
                <a:cubicBezTo>
                  <a:pt x="182166" y="195183"/>
                  <a:pt x="174149" y="197406"/>
                  <a:pt x="165973" y="198517"/>
                </a:cubicBezTo>
                <a:lnTo>
                  <a:pt x="151209" y="228362"/>
                </a:lnTo>
                <a:cubicBezTo>
                  <a:pt x="146764" y="237331"/>
                  <a:pt x="136604" y="241856"/>
                  <a:pt x="127000" y="239316"/>
                </a:cubicBezTo>
                <a:lnTo>
                  <a:pt x="106204" y="233759"/>
                </a:lnTo>
                <a:cubicBezTo>
                  <a:pt x="96520" y="231140"/>
                  <a:pt x="90091" y="222091"/>
                  <a:pt x="90726" y="212169"/>
                </a:cubicBezTo>
                <a:lnTo>
                  <a:pt x="92869" y="178911"/>
                </a:lnTo>
                <a:cubicBezTo>
                  <a:pt x="86281" y="173831"/>
                  <a:pt x="80486" y="167958"/>
                  <a:pt x="75486" y="161449"/>
                </a:cubicBezTo>
                <a:lnTo>
                  <a:pt x="42148" y="163592"/>
                </a:lnTo>
                <a:cubicBezTo>
                  <a:pt x="32226" y="164227"/>
                  <a:pt x="23178" y="157718"/>
                  <a:pt x="20558" y="148114"/>
                </a:cubicBezTo>
                <a:lnTo>
                  <a:pt x="15002" y="127318"/>
                </a:lnTo>
                <a:cubicBezTo>
                  <a:pt x="12462" y="117713"/>
                  <a:pt x="16986" y="107553"/>
                  <a:pt x="25956" y="103108"/>
                </a:cubicBezTo>
                <a:lnTo>
                  <a:pt x="55880" y="88344"/>
                </a:lnTo>
                <a:cubicBezTo>
                  <a:pt x="56436" y="84296"/>
                  <a:pt x="57229" y="80328"/>
                  <a:pt x="58261" y="76279"/>
                </a:cubicBezTo>
                <a:cubicBezTo>
                  <a:pt x="59373" y="72231"/>
                  <a:pt x="60643" y="68342"/>
                  <a:pt x="62230" y="64611"/>
                </a:cubicBezTo>
                <a:lnTo>
                  <a:pt x="43736" y="36909"/>
                </a:lnTo>
                <a:cubicBezTo>
                  <a:pt x="38179" y="28575"/>
                  <a:pt x="39291" y="17542"/>
                  <a:pt x="46355" y="10478"/>
                </a:cubicBezTo>
                <a:lnTo>
                  <a:pt x="61595" y="-4762"/>
                </a:lnTo>
                <a:cubicBezTo>
                  <a:pt x="68659" y="-11827"/>
                  <a:pt x="79693" y="-12938"/>
                  <a:pt x="88027" y="-7382"/>
                </a:cubicBezTo>
                <a:lnTo>
                  <a:pt x="115808" y="11113"/>
                </a:lnTo>
                <a:cubicBezTo>
                  <a:pt x="123349" y="8017"/>
                  <a:pt x="131366" y="5794"/>
                  <a:pt x="139541" y="4683"/>
                </a:cubicBezTo>
                <a:lnTo>
                  <a:pt x="154305" y="-25162"/>
                </a:lnTo>
                <a:cubicBezTo>
                  <a:pt x="158750" y="-34131"/>
                  <a:pt x="168831" y="-38656"/>
                  <a:pt x="178514" y="-36116"/>
                </a:cubicBezTo>
                <a:close/>
                <a:moveTo>
                  <a:pt x="152718" y="66675"/>
                </a:moveTo>
                <a:cubicBezTo>
                  <a:pt x="133442" y="66675"/>
                  <a:pt x="117793" y="82324"/>
                  <a:pt x="117793" y="101600"/>
                </a:cubicBezTo>
                <a:cubicBezTo>
                  <a:pt x="117793" y="120876"/>
                  <a:pt x="133442" y="136525"/>
                  <a:pt x="152718" y="136525"/>
                </a:cubicBezTo>
                <a:cubicBezTo>
                  <a:pt x="171993" y="136525"/>
                  <a:pt x="187643" y="120876"/>
                  <a:pt x="187643" y="101600"/>
                </a:cubicBezTo>
                <a:cubicBezTo>
                  <a:pt x="187643" y="82324"/>
                  <a:pt x="171993" y="66675"/>
                  <a:pt x="152718" y="66675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549400" y="33401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Service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549400" y="3721100"/>
            <a:ext cx="584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Lógica de negocio pura: cálculos, validaciones complejas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064000" y="4254500"/>
            <a:ext cx="0" cy="317500"/>
          </a:xfrm>
          <a:prstGeom prst="straightConnector1">
            <a:avLst/>
          </a:prstGeom>
          <a:noFill/>
          <a:ln w="25400">
            <a:solidFill>
              <a:srgbClr val="2A9D8F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62000" y="4572000"/>
            <a:ext cx="6858000" cy="1016000"/>
          </a:xfrm>
          <a:prstGeom prst="roundRect">
            <a:avLst>
              <a:gd name="adj" fmla="val 6000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041400" y="48260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355600" y="163354"/>
                </a:moveTo>
                <a:cubicBezTo>
                  <a:pt x="343853" y="171133"/>
                  <a:pt x="330359" y="177403"/>
                  <a:pt x="316309" y="182404"/>
                </a:cubicBezTo>
                <a:cubicBezTo>
                  <a:pt x="279003" y="195739"/>
                  <a:pt x="230029" y="203200"/>
                  <a:pt x="177800" y="203200"/>
                </a:cubicBezTo>
                <a:cubicBezTo>
                  <a:pt x="125571" y="203200"/>
                  <a:pt x="76518" y="195659"/>
                  <a:pt x="39291" y="182404"/>
                </a:cubicBezTo>
                <a:cubicBezTo>
                  <a:pt x="25321" y="177403"/>
                  <a:pt x="11747" y="171133"/>
                  <a:pt x="0" y="163354"/>
                </a:cubicBezTo>
                <a:lnTo>
                  <a:pt x="0" y="228600"/>
                </a:lnTo>
                <a:cubicBezTo>
                  <a:pt x="0" y="263684"/>
                  <a:pt x="79613" y="292100"/>
                  <a:pt x="177800" y="292100"/>
                </a:cubicBezTo>
                <a:cubicBezTo>
                  <a:pt x="275987" y="292100"/>
                  <a:pt x="355600" y="263684"/>
                  <a:pt x="355600" y="228600"/>
                </a:cubicBezTo>
                <a:lnTo>
                  <a:pt x="355600" y="163354"/>
                </a:lnTo>
                <a:close/>
                <a:moveTo>
                  <a:pt x="355600" y="101600"/>
                </a:moveTo>
                <a:lnTo>
                  <a:pt x="355600" y="63500"/>
                </a:lnTo>
                <a:cubicBezTo>
                  <a:pt x="355600" y="28416"/>
                  <a:pt x="275987" y="0"/>
                  <a:pt x="177800" y="0"/>
                </a:cubicBezTo>
                <a:cubicBezTo>
                  <a:pt x="79613" y="0"/>
                  <a:pt x="0" y="28416"/>
                  <a:pt x="0" y="63500"/>
                </a:cubicBezTo>
                <a:lnTo>
                  <a:pt x="0" y="101600"/>
                </a:lnTo>
                <a:cubicBezTo>
                  <a:pt x="0" y="136684"/>
                  <a:pt x="79613" y="165100"/>
                  <a:pt x="177800" y="165100"/>
                </a:cubicBezTo>
                <a:cubicBezTo>
                  <a:pt x="275987" y="165100"/>
                  <a:pt x="355600" y="136684"/>
                  <a:pt x="355600" y="101600"/>
                </a:cubicBezTo>
                <a:close/>
                <a:moveTo>
                  <a:pt x="316309" y="309404"/>
                </a:moveTo>
                <a:cubicBezTo>
                  <a:pt x="279083" y="322659"/>
                  <a:pt x="230108" y="330200"/>
                  <a:pt x="177800" y="330200"/>
                </a:cubicBezTo>
                <a:cubicBezTo>
                  <a:pt x="125492" y="330200"/>
                  <a:pt x="76518" y="322659"/>
                  <a:pt x="39291" y="309404"/>
                </a:cubicBezTo>
                <a:cubicBezTo>
                  <a:pt x="25321" y="304403"/>
                  <a:pt x="11747" y="298133"/>
                  <a:pt x="0" y="290354"/>
                </a:cubicBezTo>
                <a:lnTo>
                  <a:pt x="0" y="342900"/>
                </a:lnTo>
                <a:cubicBezTo>
                  <a:pt x="0" y="377984"/>
                  <a:pt x="79613" y="406400"/>
                  <a:pt x="177800" y="406400"/>
                </a:cubicBezTo>
                <a:cubicBezTo>
                  <a:pt x="275987" y="406400"/>
                  <a:pt x="355600" y="377984"/>
                  <a:pt x="355600" y="342900"/>
                </a:cubicBezTo>
                <a:lnTo>
                  <a:pt x="355600" y="290354"/>
                </a:lnTo>
                <a:cubicBezTo>
                  <a:pt x="343853" y="298133"/>
                  <a:pt x="330359" y="304403"/>
                  <a:pt x="316309" y="309404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549400" y="46736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Repository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549400" y="5054600"/>
            <a:ext cx="584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Consultas directas a la base de datos (PostgreSQL/Sequelize)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382000" y="13970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6C757D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Arquitectura por Capas</a:t>
            </a:r>
            <a:endParaRPr lang="en-US" sz="2000" dirty="0">
              <a:latin typeface="Quattrocento Sans" panose="020B0502050000020003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382000" y="1905000"/>
            <a:ext cx="7112000" cy="889000"/>
          </a:xfrm>
          <a:prstGeom prst="roundRect">
            <a:avLst>
              <a:gd name="adj" fmla="val 6000"/>
            </a:avLst>
          </a:prstGeom>
          <a:solidFill>
            <a:srgbClr val="E9ECEF"/>
          </a:solidFill>
          <a:ln w="254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636000" y="2133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22225"/>
                </a:moveTo>
                <a:cubicBezTo>
                  <a:pt x="19933" y="22225"/>
                  <a:pt x="0" y="42158"/>
                  <a:pt x="0" y="66675"/>
                </a:cubicBezTo>
                <a:lnTo>
                  <a:pt x="0" y="244475"/>
                </a:lnTo>
                <a:cubicBezTo>
                  <a:pt x="0" y="268992"/>
                  <a:pt x="19933" y="288925"/>
                  <a:pt x="44450" y="288925"/>
                </a:cubicBezTo>
                <a:lnTo>
                  <a:pt x="144463" y="288925"/>
                </a:lnTo>
                <a:lnTo>
                  <a:pt x="133350" y="322263"/>
                </a:lnTo>
                <a:lnTo>
                  <a:pt x="83344" y="322263"/>
                </a:lnTo>
                <a:cubicBezTo>
                  <a:pt x="74106" y="322263"/>
                  <a:pt x="66675" y="329694"/>
                  <a:pt x="66675" y="338931"/>
                </a:cubicBezTo>
                <a:cubicBezTo>
                  <a:pt x="66675" y="348169"/>
                  <a:pt x="74106" y="355600"/>
                  <a:pt x="83344" y="355600"/>
                </a:cubicBezTo>
                <a:lnTo>
                  <a:pt x="272256" y="355600"/>
                </a:lnTo>
                <a:cubicBezTo>
                  <a:pt x="281494" y="355600"/>
                  <a:pt x="288925" y="348169"/>
                  <a:pt x="288925" y="338931"/>
                </a:cubicBezTo>
                <a:cubicBezTo>
                  <a:pt x="288925" y="329694"/>
                  <a:pt x="281494" y="322263"/>
                  <a:pt x="272256" y="322263"/>
                </a:cubicBezTo>
                <a:lnTo>
                  <a:pt x="222250" y="322263"/>
                </a:lnTo>
                <a:lnTo>
                  <a:pt x="211138" y="288925"/>
                </a:lnTo>
                <a:lnTo>
                  <a:pt x="311150" y="288925"/>
                </a:lnTo>
                <a:cubicBezTo>
                  <a:pt x="335667" y="288925"/>
                  <a:pt x="355600" y="268992"/>
                  <a:pt x="355600" y="244475"/>
                </a:cubicBezTo>
                <a:lnTo>
                  <a:pt x="355600" y="66675"/>
                </a:lnTo>
                <a:cubicBezTo>
                  <a:pt x="355600" y="42158"/>
                  <a:pt x="335667" y="22225"/>
                  <a:pt x="311150" y="22225"/>
                </a:cubicBezTo>
                <a:lnTo>
                  <a:pt x="44450" y="22225"/>
                </a:lnTo>
                <a:close/>
                <a:moveTo>
                  <a:pt x="66675" y="66675"/>
                </a:moveTo>
                <a:lnTo>
                  <a:pt x="288925" y="66675"/>
                </a:lnTo>
                <a:cubicBezTo>
                  <a:pt x="301218" y="66675"/>
                  <a:pt x="311150" y="76607"/>
                  <a:pt x="311150" y="88900"/>
                </a:cubicBezTo>
                <a:lnTo>
                  <a:pt x="311150" y="200025"/>
                </a:lnTo>
                <a:cubicBezTo>
                  <a:pt x="311150" y="212318"/>
                  <a:pt x="301218" y="222250"/>
                  <a:pt x="288925" y="222250"/>
                </a:cubicBezTo>
                <a:lnTo>
                  <a:pt x="66675" y="222250"/>
                </a:lnTo>
                <a:cubicBezTo>
                  <a:pt x="54382" y="222250"/>
                  <a:pt x="44450" y="212318"/>
                  <a:pt x="44450" y="200025"/>
                </a:cubicBezTo>
                <a:lnTo>
                  <a:pt x="44450" y="88900"/>
                </a:lnTo>
                <a:cubicBezTo>
                  <a:pt x="44450" y="76607"/>
                  <a:pt x="54382" y="66675"/>
                  <a:pt x="66675" y="66675"/>
                </a:cubicBezTo>
                <a:close/>
              </a:path>
            </a:pathLst>
          </a:custGeom>
          <a:solidFill>
            <a:srgbClr val="1B4332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9118600" y="1968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4332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Capa de Interfaz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118600" y="2311400"/>
            <a:ext cx="609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C757D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React + Vite + Tailwind CSS — Frontend SPA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11874500" y="2794000"/>
            <a:ext cx="0" cy="254000"/>
          </a:xfrm>
          <a:prstGeom prst="straightConnector1">
            <a:avLst/>
          </a:prstGeom>
          <a:noFill/>
          <a:ln w="25400">
            <a:solidFill>
              <a:srgbClr val="6C757D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382000" y="3048000"/>
            <a:ext cx="7112000" cy="889000"/>
          </a:xfrm>
          <a:prstGeom prst="roundRect">
            <a:avLst>
              <a:gd name="adj" fmla="val 6000"/>
            </a:avLst>
          </a:prstGeom>
          <a:solidFill>
            <a:srgbClr val="E9ECEF"/>
          </a:solidFill>
          <a:ln w="254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8658225" y="32766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44450" y="22225"/>
                </a:moveTo>
                <a:cubicBezTo>
                  <a:pt x="19933" y="22225"/>
                  <a:pt x="0" y="42158"/>
                  <a:pt x="0" y="66675"/>
                </a:cubicBezTo>
                <a:lnTo>
                  <a:pt x="0" y="111125"/>
                </a:lnTo>
                <a:cubicBezTo>
                  <a:pt x="0" y="135642"/>
                  <a:pt x="19933" y="155575"/>
                  <a:pt x="44450" y="155575"/>
                </a:cubicBezTo>
                <a:lnTo>
                  <a:pt x="266700" y="155575"/>
                </a:lnTo>
                <a:cubicBezTo>
                  <a:pt x="291217" y="155575"/>
                  <a:pt x="311150" y="135642"/>
                  <a:pt x="311150" y="111125"/>
                </a:cubicBezTo>
                <a:lnTo>
                  <a:pt x="311150" y="66675"/>
                </a:lnTo>
                <a:cubicBezTo>
                  <a:pt x="311150" y="42158"/>
                  <a:pt x="291217" y="22225"/>
                  <a:pt x="266700" y="22225"/>
                </a:cubicBezTo>
                <a:lnTo>
                  <a:pt x="44450" y="22225"/>
                </a:lnTo>
                <a:close/>
                <a:moveTo>
                  <a:pt x="194469" y="72231"/>
                </a:moveTo>
                <a:cubicBezTo>
                  <a:pt x="203668" y="72231"/>
                  <a:pt x="211138" y="79700"/>
                  <a:pt x="211138" y="88900"/>
                </a:cubicBezTo>
                <a:cubicBezTo>
                  <a:pt x="211138" y="98100"/>
                  <a:pt x="203668" y="105569"/>
                  <a:pt x="194469" y="105569"/>
                </a:cubicBezTo>
                <a:cubicBezTo>
                  <a:pt x="185269" y="105569"/>
                  <a:pt x="177800" y="98100"/>
                  <a:pt x="177800" y="88900"/>
                </a:cubicBezTo>
                <a:cubicBezTo>
                  <a:pt x="177800" y="79700"/>
                  <a:pt x="185269" y="72231"/>
                  <a:pt x="194469" y="72231"/>
                </a:cubicBezTo>
                <a:close/>
                <a:moveTo>
                  <a:pt x="233363" y="88900"/>
                </a:moveTo>
                <a:cubicBezTo>
                  <a:pt x="233363" y="79700"/>
                  <a:pt x="240832" y="72231"/>
                  <a:pt x="250031" y="72231"/>
                </a:cubicBezTo>
                <a:cubicBezTo>
                  <a:pt x="259231" y="72231"/>
                  <a:pt x="266700" y="79700"/>
                  <a:pt x="266700" y="88900"/>
                </a:cubicBezTo>
                <a:cubicBezTo>
                  <a:pt x="266700" y="98100"/>
                  <a:pt x="259231" y="105569"/>
                  <a:pt x="250031" y="105569"/>
                </a:cubicBezTo>
                <a:cubicBezTo>
                  <a:pt x="240832" y="105569"/>
                  <a:pt x="233363" y="98100"/>
                  <a:pt x="233363" y="88900"/>
                </a:cubicBezTo>
                <a:close/>
                <a:moveTo>
                  <a:pt x="44450" y="200025"/>
                </a:moveTo>
                <a:cubicBezTo>
                  <a:pt x="19933" y="200025"/>
                  <a:pt x="0" y="219958"/>
                  <a:pt x="0" y="244475"/>
                </a:cubicBezTo>
                <a:lnTo>
                  <a:pt x="0" y="288925"/>
                </a:lnTo>
                <a:cubicBezTo>
                  <a:pt x="0" y="313442"/>
                  <a:pt x="19933" y="333375"/>
                  <a:pt x="44450" y="333375"/>
                </a:cubicBezTo>
                <a:lnTo>
                  <a:pt x="266700" y="333375"/>
                </a:lnTo>
                <a:cubicBezTo>
                  <a:pt x="291217" y="333375"/>
                  <a:pt x="311150" y="313442"/>
                  <a:pt x="311150" y="288925"/>
                </a:cubicBezTo>
                <a:lnTo>
                  <a:pt x="311150" y="244475"/>
                </a:lnTo>
                <a:cubicBezTo>
                  <a:pt x="311150" y="219958"/>
                  <a:pt x="291217" y="200025"/>
                  <a:pt x="266700" y="200025"/>
                </a:cubicBezTo>
                <a:lnTo>
                  <a:pt x="44450" y="200025"/>
                </a:lnTo>
                <a:close/>
                <a:moveTo>
                  <a:pt x="194469" y="250031"/>
                </a:moveTo>
                <a:cubicBezTo>
                  <a:pt x="203668" y="250031"/>
                  <a:pt x="211138" y="257500"/>
                  <a:pt x="211138" y="266700"/>
                </a:cubicBezTo>
                <a:cubicBezTo>
                  <a:pt x="211138" y="275900"/>
                  <a:pt x="203668" y="283369"/>
                  <a:pt x="194469" y="283369"/>
                </a:cubicBezTo>
                <a:cubicBezTo>
                  <a:pt x="185269" y="283369"/>
                  <a:pt x="177800" y="275900"/>
                  <a:pt x="177800" y="266700"/>
                </a:cubicBezTo>
                <a:cubicBezTo>
                  <a:pt x="177800" y="257500"/>
                  <a:pt x="185269" y="250031"/>
                  <a:pt x="194469" y="250031"/>
                </a:cubicBezTo>
                <a:close/>
                <a:moveTo>
                  <a:pt x="233363" y="266700"/>
                </a:moveTo>
                <a:cubicBezTo>
                  <a:pt x="233363" y="257500"/>
                  <a:pt x="240832" y="250031"/>
                  <a:pt x="250031" y="250031"/>
                </a:cubicBezTo>
                <a:cubicBezTo>
                  <a:pt x="259231" y="250031"/>
                  <a:pt x="266700" y="257500"/>
                  <a:pt x="266700" y="266700"/>
                </a:cubicBezTo>
                <a:cubicBezTo>
                  <a:pt x="266700" y="275900"/>
                  <a:pt x="259231" y="283369"/>
                  <a:pt x="250031" y="283369"/>
                </a:cubicBezTo>
                <a:cubicBezTo>
                  <a:pt x="240832" y="283369"/>
                  <a:pt x="233363" y="275900"/>
                  <a:pt x="233363" y="266700"/>
                </a:cubicBezTo>
                <a:close/>
              </a:path>
            </a:pathLst>
          </a:custGeom>
          <a:solidFill>
            <a:srgbClr val="1B4332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9118600" y="3111500"/>
            <a:ext cx="317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4332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Capa de Lógica de Negocio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9118600" y="3454400"/>
            <a:ext cx="609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C757D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Node.js + Express + CSR Pattern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11874500" y="3937000"/>
            <a:ext cx="0" cy="254000"/>
          </a:xfrm>
          <a:prstGeom prst="straightConnector1">
            <a:avLst/>
          </a:prstGeom>
          <a:noFill/>
          <a:ln w="25400">
            <a:solidFill>
              <a:srgbClr val="6C757D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8382000" y="4191000"/>
            <a:ext cx="7112000" cy="889000"/>
          </a:xfrm>
          <a:prstGeom prst="roundRect">
            <a:avLst>
              <a:gd name="adj" fmla="val 6000"/>
            </a:avLst>
          </a:prstGeom>
          <a:solidFill>
            <a:srgbClr val="E9ECEF"/>
          </a:solidFill>
          <a:ln w="254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8658225" y="44196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311150" y="142935"/>
                </a:moveTo>
                <a:cubicBezTo>
                  <a:pt x="300871" y="149741"/>
                  <a:pt x="289064" y="155228"/>
                  <a:pt x="276771" y="159603"/>
                </a:cubicBezTo>
                <a:cubicBezTo>
                  <a:pt x="244128" y="171271"/>
                  <a:pt x="201275" y="177800"/>
                  <a:pt x="155575" y="177800"/>
                </a:cubicBezTo>
                <a:cubicBezTo>
                  <a:pt x="109875" y="177800"/>
                  <a:pt x="66953" y="171202"/>
                  <a:pt x="34379" y="159603"/>
                </a:cubicBezTo>
                <a:cubicBezTo>
                  <a:pt x="22156" y="155228"/>
                  <a:pt x="10279" y="149741"/>
                  <a:pt x="0" y="142935"/>
                </a:cubicBezTo>
                <a:lnTo>
                  <a:pt x="0" y="200025"/>
                </a:lnTo>
                <a:cubicBezTo>
                  <a:pt x="0" y="230723"/>
                  <a:pt x="69661" y="255587"/>
                  <a:pt x="155575" y="255587"/>
                </a:cubicBezTo>
                <a:cubicBezTo>
                  <a:pt x="241489" y="255587"/>
                  <a:pt x="311150" y="230723"/>
                  <a:pt x="311150" y="200025"/>
                </a:cubicBezTo>
                <a:lnTo>
                  <a:pt x="311150" y="142935"/>
                </a:lnTo>
                <a:close/>
                <a:moveTo>
                  <a:pt x="311150" y="88900"/>
                </a:moveTo>
                <a:lnTo>
                  <a:pt x="311150" y="55563"/>
                </a:lnTo>
                <a:cubicBezTo>
                  <a:pt x="311150" y="24864"/>
                  <a:pt x="241489" y="0"/>
                  <a:pt x="155575" y="0"/>
                </a:cubicBezTo>
                <a:cubicBezTo>
                  <a:pt x="69661" y="0"/>
                  <a:pt x="0" y="24864"/>
                  <a:pt x="0" y="55563"/>
                </a:cubicBezTo>
                <a:lnTo>
                  <a:pt x="0" y="88900"/>
                </a:lnTo>
                <a:cubicBezTo>
                  <a:pt x="0" y="119598"/>
                  <a:pt x="69661" y="144463"/>
                  <a:pt x="155575" y="144463"/>
                </a:cubicBezTo>
                <a:cubicBezTo>
                  <a:pt x="241489" y="144463"/>
                  <a:pt x="311150" y="119598"/>
                  <a:pt x="311150" y="88900"/>
                </a:cubicBezTo>
                <a:close/>
                <a:moveTo>
                  <a:pt x="276771" y="270728"/>
                </a:moveTo>
                <a:cubicBezTo>
                  <a:pt x="244197" y="282327"/>
                  <a:pt x="201345" y="288925"/>
                  <a:pt x="155575" y="288925"/>
                </a:cubicBezTo>
                <a:cubicBezTo>
                  <a:pt x="109805" y="288925"/>
                  <a:pt x="66953" y="282327"/>
                  <a:pt x="34379" y="270728"/>
                </a:cubicBezTo>
                <a:cubicBezTo>
                  <a:pt x="22156" y="266353"/>
                  <a:pt x="10279" y="260866"/>
                  <a:pt x="0" y="254060"/>
                </a:cubicBezTo>
                <a:lnTo>
                  <a:pt x="0" y="300038"/>
                </a:lnTo>
                <a:cubicBezTo>
                  <a:pt x="0" y="330736"/>
                  <a:pt x="69661" y="355600"/>
                  <a:pt x="155575" y="355600"/>
                </a:cubicBezTo>
                <a:cubicBezTo>
                  <a:pt x="241489" y="355600"/>
                  <a:pt x="311150" y="330736"/>
                  <a:pt x="311150" y="300038"/>
                </a:cubicBezTo>
                <a:lnTo>
                  <a:pt x="311150" y="254060"/>
                </a:lnTo>
                <a:cubicBezTo>
                  <a:pt x="300871" y="260866"/>
                  <a:pt x="289064" y="266353"/>
                  <a:pt x="276771" y="270728"/>
                </a:cubicBezTo>
                <a:close/>
              </a:path>
            </a:pathLst>
          </a:custGeom>
          <a:solidFill>
            <a:srgbClr val="1B4332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9118600" y="4254500"/>
            <a:ext cx="317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4332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Capa de Persistencia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9118600" y="4597400"/>
            <a:ext cx="609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C757D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PostgreSQL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762000" y="5905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6C757D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Patrones Adicionales Utilizados</a:t>
            </a:r>
            <a:endParaRPr lang="en-US" sz="2000" dirty="0">
              <a:latin typeface="Quattrocento Sans" panose="020B0502050000020003" pitchFamily="34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762000" y="6413500"/>
            <a:ext cx="3429000" cy="88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952500" y="660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225" y="44450"/>
                </a:moveTo>
                <a:cubicBezTo>
                  <a:pt x="13266" y="44450"/>
                  <a:pt x="5140" y="49867"/>
                  <a:pt x="1667" y="58202"/>
                </a:cubicBezTo>
                <a:cubicBezTo>
                  <a:pt x="-1806" y="66536"/>
                  <a:pt x="139" y="76051"/>
                  <a:pt x="6529" y="82371"/>
                </a:cubicBezTo>
                <a:lnTo>
                  <a:pt x="133350" y="209262"/>
                </a:lnTo>
                <a:lnTo>
                  <a:pt x="133350" y="288925"/>
                </a:lnTo>
                <a:cubicBezTo>
                  <a:pt x="133350" y="294829"/>
                  <a:pt x="135711" y="300454"/>
                  <a:pt x="139879" y="304621"/>
                </a:cubicBezTo>
                <a:lnTo>
                  <a:pt x="184329" y="349071"/>
                </a:lnTo>
                <a:cubicBezTo>
                  <a:pt x="190718" y="355461"/>
                  <a:pt x="200233" y="357336"/>
                  <a:pt x="208568" y="353864"/>
                </a:cubicBezTo>
                <a:cubicBezTo>
                  <a:pt x="216902" y="350391"/>
                  <a:pt x="222250" y="342334"/>
                  <a:pt x="222250" y="333375"/>
                </a:cubicBezTo>
                <a:lnTo>
                  <a:pt x="222250" y="209262"/>
                </a:lnTo>
                <a:lnTo>
                  <a:pt x="349071" y="82441"/>
                </a:lnTo>
                <a:cubicBezTo>
                  <a:pt x="355461" y="76051"/>
                  <a:pt x="357336" y="66536"/>
                  <a:pt x="353864" y="58202"/>
                </a:cubicBezTo>
                <a:cubicBezTo>
                  <a:pt x="350391" y="49867"/>
                  <a:pt x="342334" y="44450"/>
                  <a:pt x="333375" y="44450"/>
                </a:cubicBezTo>
                <a:lnTo>
                  <a:pt x="22225" y="44450"/>
                </a:ln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1422400" y="6477000"/>
            <a:ext cx="254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212529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Middleware</a:t>
            </a:r>
            <a:endParaRPr lang="en-US" sz="1600" dirty="0">
              <a:latin typeface="Quattrocento Sans" panose="020B0502050000020003" pitchFamily="34" charset="0"/>
            </a:endParaRPr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Autenticación, logging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4445000" y="6413500"/>
            <a:ext cx="3429000" cy="88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4613275" y="6604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2225" y="82927"/>
                </a:moveTo>
                <a:cubicBezTo>
                  <a:pt x="8959" y="75287"/>
                  <a:pt x="0" y="60910"/>
                  <a:pt x="0" y="44450"/>
                </a:cubicBezTo>
                <a:cubicBezTo>
                  <a:pt x="0" y="19933"/>
                  <a:pt x="19933" y="0"/>
                  <a:pt x="44450" y="0"/>
                </a:cubicBezTo>
                <a:cubicBezTo>
                  <a:pt x="60910" y="0"/>
                  <a:pt x="75287" y="8959"/>
                  <a:pt x="82927" y="22225"/>
                </a:cubicBezTo>
                <a:lnTo>
                  <a:pt x="317054" y="22225"/>
                </a:lnTo>
                <a:cubicBezTo>
                  <a:pt x="324763" y="8959"/>
                  <a:pt x="339070" y="0"/>
                  <a:pt x="355531" y="0"/>
                </a:cubicBezTo>
                <a:cubicBezTo>
                  <a:pt x="380047" y="0"/>
                  <a:pt x="399981" y="19933"/>
                  <a:pt x="399981" y="44450"/>
                </a:cubicBezTo>
                <a:cubicBezTo>
                  <a:pt x="399981" y="60910"/>
                  <a:pt x="391021" y="75287"/>
                  <a:pt x="377756" y="82927"/>
                </a:cubicBezTo>
                <a:lnTo>
                  <a:pt x="377756" y="272604"/>
                </a:lnTo>
                <a:cubicBezTo>
                  <a:pt x="391021" y="280313"/>
                  <a:pt x="399981" y="294620"/>
                  <a:pt x="399981" y="311081"/>
                </a:cubicBezTo>
                <a:cubicBezTo>
                  <a:pt x="399981" y="335598"/>
                  <a:pt x="380047" y="355531"/>
                  <a:pt x="355531" y="355531"/>
                </a:cubicBezTo>
                <a:cubicBezTo>
                  <a:pt x="339070" y="355531"/>
                  <a:pt x="324693" y="346571"/>
                  <a:pt x="317054" y="333306"/>
                </a:cubicBezTo>
                <a:lnTo>
                  <a:pt x="82927" y="333306"/>
                </a:lnTo>
                <a:cubicBezTo>
                  <a:pt x="75218" y="346571"/>
                  <a:pt x="60910" y="355531"/>
                  <a:pt x="44450" y="355531"/>
                </a:cubicBezTo>
                <a:cubicBezTo>
                  <a:pt x="19933" y="355531"/>
                  <a:pt x="0" y="335598"/>
                  <a:pt x="0" y="311081"/>
                </a:cubicBezTo>
                <a:cubicBezTo>
                  <a:pt x="0" y="294620"/>
                  <a:pt x="8959" y="280243"/>
                  <a:pt x="22225" y="272604"/>
                </a:cubicBezTo>
                <a:lnTo>
                  <a:pt x="22225" y="82927"/>
                </a:lnTo>
                <a:close/>
                <a:moveTo>
                  <a:pt x="333375" y="82927"/>
                </a:moveTo>
                <a:cubicBezTo>
                  <a:pt x="326638" y="79038"/>
                  <a:pt x="321012" y="73412"/>
                  <a:pt x="317123" y="66675"/>
                </a:cubicBezTo>
                <a:lnTo>
                  <a:pt x="82927" y="66675"/>
                </a:lnTo>
                <a:cubicBezTo>
                  <a:pt x="79038" y="73412"/>
                  <a:pt x="73412" y="79038"/>
                  <a:pt x="66675" y="82927"/>
                </a:cubicBezTo>
                <a:lnTo>
                  <a:pt x="66675" y="272604"/>
                </a:lnTo>
                <a:cubicBezTo>
                  <a:pt x="73412" y="276493"/>
                  <a:pt x="79038" y="282119"/>
                  <a:pt x="82927" y="288856"/>
                </a:cubicBezTo>
                <a:lnTo>
                  <a:pt x="317054" y="288856"/>
                </a:lnTo>
                <a:cubicBezTo>
                  <a:pt x="320943" y="282119"/>
                  <a:pt x="326569" y="276493"/>
                  <a:pt x="333306" y="272604"/>
                </a:cubicBezTo>
                <a:lnTo>
                  <a:pt x="333306" y="82927"/>
                </a:lnTo>
                <a:close/>
                <a:moveTo>
                  <a:pt x="100013" y="122238"/>
                </a:moveTo>
                <a:cubicBezTo>
                  <a:pt x="100013" y="109944"/>
                  <a:pt x="109944" y="100013"/>
                  <a:pt x="122238" y="100013"/>
                </a:cubicBezTo>
                <a:lnTo>
                  <a:pt x="200025" y="100013"/>
                </a:lnTo>
                <a:cubicBezTo>
                  <a:pt x="212318" y="100013"/>
                  <a:pt x="222250" y="109944"/>
                  <a:pt x="222250" y="122238"/>
                </a:cubicBezTo>
                <a:lnTo>
                  <a:pt x="222250" y="166688"/>
                </a:lnTo>
                <a:cubicBezTo>
                  <a:pt x="222250" y="178981"/>
                  <a:pt x="212318" y="188913"/>
                  <a:pt x="200025" y="188913"/>
                </a:cubicBezTo>
                <a:lnTo>
                  <a:pt x="122238" y="188913"/>
                </a:lnTo>
                <a:cubicBezTo>
                  <a:pt x="109944" y="188913"/>
                  <a:pt x="100013" y="178981"/>
                  <a:pt x="100013" y="166688"/>
                </a:cubicBezTo>
                <a:lnTo>
                  <a:pt x="100013" y="122238"/>
                </a:lnTo>
                <a:close/>
                <a:moveTo>
                  <a:pt x="177800" y="222250"/>
                </a:moveTo>
                <a:lnTo>
                  <a:pt x="200025" y="222250"/>
                </a:lnTo>
                <a:cubicBezTo>
                  <a:pt x="230723" y="222250"/>
                  <a:pt x="255587" y="197386"/>
                  <a:pt x="255587" y="166688"/>
                </a:cubicBezTo>
                <a:lnTo>
                  <a:pt x="277813" y="166688"/>
                </a:lnTo>
                <a:cubicBezTo>
                  <a:pt x="290106" y="166688"/>
                  <a:pt x="300038" y="176619"/>
                  <a:pt x="300038" y="188913"/>
                </a:cubicBezTo>
                <a:lnTo>
                  <a:pt x="300038" y="233363"/>
                </a:lnTo>
                <a:cubicBezTo>
                  <a:pt x="300038" y="245656"/>
                  <a:pt x="290106" y="255587"/>
                  <a:pt x="277813" y="255587"/>
                </a:cubicBezTo>
                <a:lnTo>
                  <a:pt x="200025" y="255587"/>
                </a:lnTo>
                <a:cubicBezTo>
                  <a:pt x="187732" y="255587"/>
                  <a:pt x="177800" y="245656"/>
                  <a:pt x="177800" y="233363"/>
                </a:cubicBezTo>
                <a:lnTo>
                  <a:pt x="177800" y="222250"/>
                </a:ln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5105400" y="6477000"/>
            <a:ext cx="254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212529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Singleton</a:t>
            </a:r>
            <a:endParaRPr lang="en-US" sz="1600" dirty="0">
              <a:latin typeface="Quattrocento Sans" panose="020B0502050000020003" pitchFamily="34" charset="0"/>
            </a:endParaRPr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Conexión a base de datos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8128000" y="6413500"/>
            <a:ext cx="3429000" cy="88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8340725" y="6604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88900" y="-22225"/>
                </a:moveTo>
                <a:cubicBezTo>
                  <a:pt x="101193" y="-22225"/>
                  <a:pt x="111125" y="-12293"/>
                  <a:pt x="111125" y="0"/>
                </a:cubicBezTo>
                <a:lnTo>
                  <a:pt x="111125" y="66675"/>
                </a:lnTo>
                <a:lnTo>
                  <a:pt x="200025" y="66675"/>
                </a:lnTo>
                <a:lnTo>
                  <a:pt x="200025" y="0"/>
                </a:lnTo>
                <a:cubicBezTo>
                  <a:pt x="200025" y="-12293"/>
                  <a:pt x="209957" y="-22225"/>
                  <a:pt x="222250" y="-22225"/>
                </a:cubicBezTo>
                <a:cubicBezTo>
                  <a:pt x="234543" y="-22225"/>
                  <a:pt x="244475" y="-12293"/>
                  <a:pt x="244475" y="0"/>
                </a:cubicBezTo>
                <a:lnTo>
                  <a:pt x="244475" y="66675"/>
                </a:lnTo>
                <a:lnTo>
                  <a:pt x="288925" y="66675"/>
                </a:lnTo>
                <a:cubicBezTo>
                  <a:pt x="301218" y="66675"/>
                  <a:pt x="311150" y="76607"/>
                  <a:pt x="311150" y="88900"/>
                </a:cubicBezTo>
                <a:cubicBezTo>
                  <a:pt x="311150" y="101193"/>
                  <a:pt x="301218" y="111125"/>
                  <a:pt x="288925" y="111125"/>
                </a:cubicBezTo>
                <a:lnTo>
                  <a:pt x="288925" y="155575"/>
                </a:lnTo>
                <a:cubicBezTo>
                  <a:pt x="288925" y="221625"/>
                  <a:pt x="240863" y="276493"/>
                  <a:pt x="177800" y="287050"/>
                </a:cubicBezTo>
                <a:lnTo>
                  <a:pt x="177800" y="333375"/>
                </a:lnTo>
                <a:cubicBezTo>
                  <a:pt x="177800" y="345668"/>
                  <a:pt x="167868" y="355600"/>
                  <a:pt x="155575" y="355600"/>
                </a:cubicBezTo>
                <a:cubicBezTo>
                  <a:pt x="143282" y="355600"/>
                  <a:pt x="133350" y="345668"/>
                  <a:pt x="133350" y="333375"/>
                </a:cubicBezTo>
                <a:lnTo>
                  <a:pt x="133350" y="287050"/>
                </a:lnTo>
                <a:cubicBezTo>
                  <a:pt x="70287" y="276493"/>
                  <a:pt x="22225" y="221625"/>
                  <a:pt x="22225" y="155575"/>
                </a:cubicBezTo>
                <a:lnTo>
                  <a:pt x="22225" y="111125"/>
                </a:lnTo>
                <a:cubicBezTo>
                  <a:pt x="9932" y="111125"/>
                  <a:pt x="0" y="101193"/>
                  <a:pt x="0" y="88900"/>
                </a:cubicBezTo>
                <a:cubicBezTo>
                  <a:pt x="0" y="76607"/>
                  <a:pt x="9932" y="66675"/>
                  <a:pt x="22225" y="66675"/>
                </a:cubicBezTo>
                <a:lnTo>
                  <a:pt x="66675" y="66675"/>
                </a:lnTo>
                <a:lnTo>
                  <a:pt x="66675" y="0"/>
                </a:lnTo>
                <a:cubicBezTo>
                  <a:pt x="66675" y="-12293"/>
                  <a:pt x="76607" y="-22225"/>
                  <a:pt x="88900" y="-22225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8788400" y="6477000"/>
            <a:ext cx="254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212529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Dependency Injection</a:t>
            </a:r>
            <a:endParaRPr lang="en-US" sz="1600" dirty="0">
              <a:latin typeface="Quattrocento Sans" panose="020B0502050000020003" pitchFamily="34" charset="0"/>
            </a:endParaRPr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Servicios desacoplados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11811000" y="6413500"/>
            <a:ext cx="3683000" cy="88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12001500" y="660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55575" y="0"/>
                </a:moveTo>
                <a:cubicBezTo>
                  <a:pt x="180092" y="0"/>
                  <a:pt x="200025" y="14932"/>
                  <a:pt x="200025" y="33337"/>
                </a:cubicBezTo>
                <a:cubicBezTo>
                  <a:pt x="200025" y="40561"/>
                  <a:pt x="196969" y="47228"/>
                  <a:pt x="191691" y="52715"/>
                </a:cubicBezTo>
                <a:cubicBezTo>
                  <a:pt x="187107" y="57507"/>
                  <a:pt x="183356" y="63341"/>
                  <a:pt x="183356" y="70009"/>
                </a:cubicBezTo>
                <a:cubicBezTo>
                  <a:pt x="183356" y="80427"/>
                  <a:pt x="191830" y="88900"/>
                  <a:pt x="202248" y="88900"/>
                </a:cubicBezTo>
                <a:lnTo>
                  <a:pt x="233363" y="88900"/>
                </a:lnTo>
                <a:cubicBezTo>
                  <a:pt x="251768" y="88900"/>
                  <a:pt x="266700" y="103832"/>
                  <a:pt x="266700" y="122238"/>
                </a:cubicBezTo>
                <a:lnTo>
                  <a:pt x="266700" y="153353"/>
                </a:lnTo>
                <a:cubicBezTo>
                  <a:pt x="266700" y="163770"/>
                  <a:pt x="275173" y="172244"/>
                  <a:pt x="285591" y="172244"/>
                </a:cubicBezTo>
                <a:cubicBezTo>
                  <a:pt x="292189" y="172244"/>
                  <a:pt x="298093" y="168493"/>
                  <a:pt x="302885" y="163909"/>
                </a:cubicBezTo>
                <a:cubicBezTo>
                  <a:pt x="308372" y="158700"/>
                  <a:pt x="315039" y="155575"/>
                  <a:pt x="322263" y="155575"/>
                </a:cubicBezTo>
                <a:cubicBezTo>
                  <a:pt x="340668" y="155575"/>
                  <a:pt x="355600" y="175508"/>
                  <a:pt x="355600" y="200025"/>
                </a:cubicBezTo>
                <a:cubicBezTo>
                  <a:pt x="355600" y="224542"/>
                  <a:pt x="340668" y="244475"/>
                  <a:pt x="322263" y="244475"/>
                </a:cubicBezTo>
                <a:cubicBezTo>
                  <a:pt x="315039" y="244475"/>
                  <a:pt x="308302" y="241419"/>
                  <a:pt x="302885" y="236141"/>
                </a:cubicBezTo>
                <a:cubicBezTo>
                  <a:pt x="298093" y="231557"/>
                  <a:pt x="292259" y="227806"/>
                  <a:pt x="285591" y="227806"/>
                </a:cubicBezTo>
                <a:cubicBezTo>
                  <a:pt x="275173" y="227806"/>
                  <a:pt x="266700" y="236280"/>
                  <a:pt x="266700" y="246698"/>
                </a:cubicBezTo>
                <a:lnTo>
                  <a:pt x="266700" y="322263"/>
                </a:lnTo>
                <a:cubicBezTo>
                  <a:pt x="266700" y="340668"/>
                  <a:pt x="251768" y="355600"/>
                  <a:pt x="233363" y="355600"/>
                </a:cubicBezTo>
                <a:lnTo>
                  <a:pt x="193913" y="355600"/>
                </a:lnTo>
                <a:cubicBezTo>
                  <a:pt x="185023" y="355600"/>
                  <a:pt x="177800" y="348377"/>
                  <a:pt x="177800" y="339487"/>
                </a:cubicBezTo>
                <a:cubicBezTo>
                  <a:pt x="177800" y="333097"/>
                  <a:pt x="181828" y="327471"/>
                  <a:pt x="186968" y="323652"/>
                </a:cubicBezTo>
                <a:cubicBezTo>
                  <a:pt x="195024" y="317609"/>
                  <a:pt x="200025" y="309275"/>
                  <a:pt x="200025" y="300038"/>
                </a:cubicBezTo>
                <a:cubicBezTo>
                  <a:pt x="200025" y="281632"/>
                  <a:pt x="180092" y="266700"/>
                  <a:pt x="155575" y="266700"/>
                </a:cubicBezTo>
                <a:cubicBezTo>
                  <a:pt x="131058" y="266700"/>
                  <a:pt x="111125" y="281632"/>
                  <a:pt x="111125" y="300038"/>
                </a:cubicBezTo>
                <a:cubicBezTo>
                  <a:pt x="111125" y="309275"/>
                  <a:pt x="116126" y="317609"/>
                  <a:pt x="124182" y="323652"/>
                </a:cubicBezTo>
                <a:cubicBezTo>
                  <a:pt x="129322" y="327471"/>
                  <a:pt x="133350" y="333028"/>
                  <a:pt x="133350" y="339487"/>
                </a:cubicBezTo>
                <a:cubicBezTo>
                  <a:pt x="133350" y="348377"/>
                  <a:pt x="126127" y="355600"/>
                  <a:pt x="117237" y="355600"/>
                </a:cubicBezTo>
                <a:lnTo>
                  <a:pt x="33337" y="355600"/>
                </a:lnTo>
                <a:cubicBezTo>
                  <a:pt x="14932" y="355600"/>
                  <a:pt x="0" y="340668"/>
                  <a:pt x="0" y="322263"/>
                </a:cubicBezTo>
                <a:lnTo>
                  <a:pt x="0" y="238363"/>
                </a:lnTo>
                <a:cubicBezTo>
                  <a:pt x="0" y="229473"/>
                  <a:pt x="7223" y="222250"/>
                  <a:pt x="16113" y="222250"/>
                </a:cubicBezTo>
                <a:cubicBezTo>
                  <a:pt x="22503" y="222250"/>
                  <a:pt x="28129" y="226278"/>
                  <a:pt x="31948" y="231418"/>
                </a:cubicBezTo>
                <a:cubicBezTo>
                  <a:pt x="37991" y="239474"/>
                  <a:pt x="46325" y="244475"/>
                  <a:pt x="55563" y="244475"/>
                </a:cubicBezTo>
                <a:cubicBezTo>
                  <a:pt x="73968" y="244475"/>
                  <a:pt x="88900" y="224542"/>
                  <a:pt x="88900" y="200025"/>
                </a:cubicBezTo>
                <a:cubicBezTo>
                  <a:pt x="88900" y="175508"/>
                  <a:pt x="73968" y="155575"/>
                  <a:pt x="55563" y="155575"/>
                </a:cubicBezTo>
                <a:cubicBezTo>
                  <a:pt x="46325" y="155575"/>
                  <a:pt x="37991" y="160576"/>
                  <a:pt x="31948" y="168632"/>
                </a:cubicBezTo>
                <a:cubicBezTo>
                  <a:pt x="28129" y="173772"/>
                  <a:pt x="22572" y="177800"/>
                  <a:pt x="16113" y="177800"/>
                </a:cubicBezTo>
                <a:cubicBezTo>
                  <a:pt x="7223" y="177800"/>
                  <a:pt x="0" y="170577"/>
                  <a:pt x="0" y="161687"/>
                </a:cubicBezTo>
                <a:lnTo>
                  <a:pt x="0" y="122238"/>
                </a:lnTo>
                <a:cubicBezTo>
                  <a:pt x="0" y="103832"/>
                  <a:pt x="14932" y="88900"/>
                  <a:pt x="33337" y="88900"/>
                </a:cubicBezTo>
                <a:lnTo>
                  <a:pt x="108903" y="88900"/>
                </a:lnTo>
                <a:cubicBezTo>
                  <a:pt x="119320" y="88900"/>
                  <a:pt x="127794" y="80427"/>
                  <a:pt x="127794" y="70009"/>
                </a:cubicBezTo>
                <a:cubicBezTo>
                  <a:pt x="127794" y="63411"/>
                  <a:pt x="124043" y="57507"/>
                  <a:pt x="119459" y="52715"/>
                </a:cubicBezTo>
                <a:cubicBezTo>
                  <a:pt x="114250" y="47228"/>
                  <a:pt x="111125" y="40561"/>
                  <a:pt x="111125" y="33338"/>
                </a:cubicBezTo>
                <a:cubicBezTo>
                  <a:pt x="111125" y="14932"/>
                  <a:pt x="131058" y="0"/>
                  <a:pt x="155575" y="0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12471400" y="6477000"/>
            <a:ext cx="279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212529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Composición</a:t>
            </a:r>
            <a:endParaRPr lang="en-US" sz="1600" dirty="0">
              <a:latin typeface="Quattrocento Sans" panose="020B0502050000020003" pitchFamily="34" charset="0"/>
            </a:endParaRPr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12529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Componentes React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762000" y="7620000"/>
            <a:ext cx="14732000" cy="698500"/>
          </a:xfrm>
          <a:prstGeom prst="roundRect">
            <a:avLst>
              <a:gd name="adj" fmla="val 6000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1016000" y="7683500"/>
            <a:ext cx="1422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Beneficio clave:</a:t>
            </a:r>
            <a:r>
              <a:rPr lang="en-US" sz="16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 La separación de responsabilidades permite testear cada capa de forma independiente, facilita el mantenimiento y escala horizontalmente.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C757D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7 / 12</a:t>
            </a:r>
            <a:endParaRPr lang="en-US" sz="1400" dirty="0">
              <a:latin typeface="Quattrocento Sans" panose="020B0502050000020003" pitchFamily="34" charset="0"/>
            </a:endParaRPr>
          </a:p>
        </p:txBody>
      </p:sp>
      <p:pic>
        <p:nvPicPr>
          <p:cNvPr id="4098" name="Picture 2" descr="Descarga iconos gratuitos de Arquitectura en PNG y SVG">
            <a:extLst>
              <a:ext uri="{FF2B5EF4-FFF2-40B4-BE49-F238E27FC236}">
                <a16:creationId xmlns:a16="http://schemas.microsoft.com/office/drawing/2014/main" id="{13FF7D5D-7C33-EEE4-D96B-46CBEA86D7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704" y="688318"/>
            <a:ext cx="464864" cy="464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76200" y="76200"/>
            <a:ext cx="1879600" cy="35560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s-ES">
              <a:solidFill>
                <a:schemeClr val="bg1"/>
              </a:solidFill>
              <a:latin typeface="Quattrocento Sans" panose="020B05020500000200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0" y="0"/>
            <a:ext cx="2032000" cy="508000"/>
          </a:xfrm>
          <a:prstGeom prst="rect">
            <a:avLst/>
          </a:prstGeom>
          <a:solidFill>
            <a:srgbClr val="1B4332"/>
          </a:solidFill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chemeClr val="bg1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DEVOPS</a:t>
            </a:r>
            <a:endParaRPr lang="en-US" sz="1200" dirty="0">
              <a:solidFill>
                <a:schemeClr val="bg1"/>
              </a:solidFill>
              <a:latin typeface="Quattrocento Sans" panose="020B0502050000020003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62000" y="736600"/>
            <a:ext cx="50800" cy="35560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65200" y="698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4332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Infraestructura, Seguridad y Despliegue</a:t>
            </a:r>
            <a:endParaRPr lang="en-US" sz="2800" dirty="0">
              <a:latin typeface="Quattrocento Sans" panose="020B0502050000020003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62000" y="13335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6C757D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Flujo de Peticiones</a:t>
            </a:r>
            <a:endParaRPr lang="en-US" sz="2000" dirty="0">
              <a:latin typeface="Quattrocento Sans" panose="020B0502050000020003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16000" y="1841500"/>
            <a:ext cx="1778000" cy="762000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 w="254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787963" y="19431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155575" y="172244"/>
                </a:moveTo>
                <a:cubicBezTo>
                  <a:pt x="201574" y="172244"/>
                  <a:pt x="238919" y="134899"/>
                  <a:pt x="238919" y="88900"/>
                </a:cubicBezTo>
                <a:cubicBezTo>
                  <a:pt x="238919" y="42901"/>
                  <a:pt x="201574" y="5556"/>
                  <a:pt x="155575" y="5556"/>
                </a:cubicBezTo>
                <a:cubicBezTo>
                  <a:pt x="109576" y="5556"/>
                  <a:pt x="72231" y="42901"/>
                  <a:pt x="72231" y="88900"/>
                </a:cubicBezTo>
                <a:cubicBezTo>
                  <a:pt x="72231" y="134899"/>
                  <a:pt x="109576" y="172244"/>
                  <a:pt x="155575" y="172244"/>
                </a:cubicBezTo>
                <a:close/>
                <a:moveTo>
                  <a:pt x="134947" y="211138"/>
                </a:moveTo>
                <a:cubicBezTo>
                  <a:pt x="66536" y="211138"/>
                  <a:pt x="11112" y="266561"/>
                  <a:pt x="11112" y="334972"/>
                </a:cubicBezTo>
                <a:cubicBezTo>
                  <a:pt x="11112" y="346363"/>
                  <a:pt x="20350" y="355600"/>
                  <a:pt x="31740" y="355600"/>
                </a:cubicBezTo>
                <a:lnTo>
                  <a:pt x="279410" y="355600"/>
                </a:lnTo>
                <a:cubicBezTo>
                  <a:pt x="290800" y="355600"/>
                  <a:pt x="300038" y="346363"/>
                  <a:pt x="300038" y="334972"/>
                </a:cubicBezTo>
                <a:cubicBezTo>
                  <a:pt x="300038" y="266561"/>
                  <a:pt x="244614" y="211138"/>
                  <a:pt x="176203" y="211138"/>
                </a:cubicBezTo>
                <a:lnTo>
                  <a:pt x="134947" y="211138"/>
                </a:lnTo>
                <a:close/>
              </a:path>
            </a:pathLst>
          </a:custGeom>
          <a:solidFill>
            <a:srgbClr val="1B4332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16000" y="2324100"/>
            <a:ext cx="177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1B4332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Usuario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794000" y="2159000"/>
            <a:ext cx="1016000" cy="0"/>
          </a:xfrm>
          <a:prstGeom prst="straightConnector1">
            <a:avLst/>
          </a:prstGeom>
          <a:noFill/>
          <a:ln w="25400">
            <a:solidFill>
              <a:srgbClr val="6C757D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810000" y="1841500"/>
            <a:ext cx="2032000" cy="762000"/>
          </a:xfrm>
          <a:prstGeom prst="roundRect">
            <a:avLst>
              <a:gd name="adj" fmla="val 12000"/>
            </a:avLst>
          </a:prstGeom>
          <a:solidFill>
            <a:srgbClr val="F48120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632981" y="19431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0" y="233363"/>
                </a:moveTo>
                <a:cubicBezTo>
                  <a:pt x="0" y="288578"/>
                  <a:pt x="44797" y="333375"/>
                  <a:pt x="100013" y="333375"/>
                </a:cubicBezTo>
                <a:lnTo>
                  <a:pt x="311150" y="333375"/>
                </a:lnTo>
                <a:cubicBezTo>
                  <a:pt x="360253" y="333375"/>
                  <a:pt x="400050" y="293578"/>
                  <a:pt x="400050" y="244475"/>
                </a:cubicBezTo>
                <a:cubicBezTo>
                  <a:pt x="400050" y="208637"/>
                  <a:pt x="378867" y="177731"/>
                  <a:pt x="348307" y="163701"/>
                </a:cubicBezTo>
                <a:cubicBezTo>
                  <a:pt x="352961" y="154603"/>
                  <a:pt x="355600" y="144254"/>
                  <a:pt x="355600" y="133350"/>
                </a:cubicBezTo>
                <a:cubicBezTo>
                  <a:pt x="355600" y="96540"/>
                  <a:pt x="325735" y="66675"/>
                  <a:pt x="288925" y="66675"/>
                </a:cubicBezTo>
                <a:cubicBezTo>
                  <a:pt x="276632" y="66675"/>
                  <a:pt x="265172" y="70009"/>
                  <a:pt x="255310" y="75773"/>
                </a:cubicBezTo>
                <a:cubicBezTo>
                  <a:pt x="238571" y="43964"/>
                  <a:pt x="205165" y="22225"/>
                  <a:pt x="166688" y="22225"/>
                </a:cubicBezTo>
                <a:cubicBezTo>
                  <a:pt x="111472" y="22225"/>
                  <a:pt x="66675" y="67022"/>
                  <a:pt x="66675" y="122238"/>
                </a:cubicBezTo>
                <a:cubicBezTo>
                  <a:pt x="66675" y="127794"/>
                  <a:pt x="67161" y="133281"/>
                  <a:pt x="67995" y="138559"/>
                </a:cubicBezTo>
                <a:cubicBezTo>
                  <a:pt x="28476" y="151894"/>
                  <a:pt x="0" y="189329"/>
                  <a:pt x="0" y="233363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810000" y="2324100"/>
            <a:ext cx="203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Cloudflare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842000" y="2159000"/>
            <a:ext cx="1016000" cy="0"/>
          </a:xfrm>
          <a:prstGeom prst="straightConnector1">
            <a:avLst/>
          </a:prstGeom>
          <a:noFill/>
          <a:ln w="25400">
            <a:solidFill>
              <a:srgbClr val="6C757D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858000" y="1841500"/>
            <a:ext cx="2032000" cy="762000"/>
          </a:xfrm>
          <a:prstGeom prst="roundRect">
            <a:avLst>
              <a:gd name="adj" fmla="val 12000"/>
            </a:avLst>
          </a:prstGeom>
          <a:solidFill>
            <a:srgbClr val="009639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758165" y="19431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14655" y="23545"/>
                </a:moveTo>
                <a:cubicBezTo>
                  <a:pt x="23475" y="20350"/>
                  <a:pt x="33337" y="23058"/>
                  <a:pt x="39310" y="30212"/>
                </a:cubicBezTo>
                <a:lnTo>
                  <a:pt x="222250" y="249753"/>
                </a:lnTo>
                <a:lnTo>
                  <a:pt x="222250" y="44450"/>
                </a:lnTo>
                <a:cubicBezTo>
                  <a:pt x="222250" y="32157"/>
                  <a:pt x="232182" y="22225"/>
                  <a:pt x="244475" y="22225"/>
                </a:cubicBezTo>
                <a:cubicBezTo>
                  <a:pt x="256768" y="22225"/>
                  <a:pt x="266700" y="32157"/>
                  <a:pt x="266700" y="44450"/>
                </a:cubicBezTo>
                <a:lnTo>
                  <a:pt x="266700" y="311150"/>
                </a:lnTo>
                <a:cubicBezTo>
                  <a:pt x="266700" y="320526"/>
                  <a:pt x="260866" y="328861"/>
                  <a:pt x="252045" y="332055"/>
                </a:cubicBezTo>
                <a:cubicBezTo>
                  <a:pt x="243225" y="335250"/>
                  <a:pt x="233363" y="332542"/>
                  <a:pt x="227390" y="325388"/>
                </a:cubicBezTo>
                <a:lnTo>
                  <a:pt x="44450" y="105847"/>
                </a:lnTo>
                <a:lnTo>
                  <a:pt x="44450" y="311150"/>
                </a:lnTo>
                <a:cubicBezTo>
                  <a:pt x="44450" y="323443"/>
                  <a:pt x="34518" y="333375"/>
                  <a:pt x="22225" y="333375"/>
                </a:cubicBezTo>
                <a:cubicBezTo>
                  <a:pt x="9932" y="333375"/>
                  <a:pt x="0" y="323443"/>
                  <a:pt x="0" y="311150"/>
                </a:cubicBezTo>
                <a:lnTo>
                  <a:pt x="0" y="44450"/>
                </a:lnTo>
                <a:cubicBezTo>
                  <a:pt x="0" y="35074"/>
                  <a:pt x="5834" y="26739"/>
                  <a:pt x="14655" y="2354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858000" y="2324100"/>
            <a:ext cx="203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Nginx + SSL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890000" y="2159000"/>
            <a:ext cx="1016000" cy="0"/>
          </a:xfrm>
          <a:prstGeom prst="straightConnector1">
            <a:avLst/>
          </a:prstGeom>
          <a:noFill/>
          <a:ln w="25400">
            <a:solidFill>
              <a:srgbClr val="6C757D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906000" y="1841500"/>
            <a:ext cx="2032000" cy="762000"/>
          </a:xfrm>
          <a:prstGeom prst="roundRect">
            <a:avLst>
              <a:gd name="adj" fmla="val 12000"/>
            </a:avLst>
          </a:prstGeom>
          <a:solidFill>
            <a:srgbClr val="2496ED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0748798" y="19431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243016" y="164118"/>
                </a:moveTo>
                <a:lnTo>
                  <a:pt x="197108" y="164118"/>
                </a:lnTo>
                <a:lnTo>
                  <a:pt x="197108" y="122863"/>
                </a:lnTo>
                <a:lnTo>
                  <a:pt x="243016" y="122863"/>
                </a:lnTo>
                <a:lnTo>
                  <a:pt x="243016" y="164118"/>
                </a:lnTo>
                <a:close/>
                <a:moveTo>
                  <a:pt x="243016" y="22225"/>
                </a:moveTo>
                <a:lnTo>
                  <a:pt x="197108" y="22225"/>
                </a:lnTo>
                <a:lnTo>
                  <a:pt x="197108" y="64383"/>
                </a:lnTo>
                <a:lnTo>
                  <a:pt x="243016" y="64383"/>
                </a:lnTo>
                <a:lnTo>
                  <a:pt x="243016" y="22225"/>
                </a:lnTo>
                <a:close/>
                <a:moveTo>
                  <a:pt x="297329" y="122793"/>
                </a:moveTo>
                <a:lnTo>
                  <a:pt x="251420" y="122793"/>
                </a:lnTo>
                <a:lnTo>
                  <a:pt x="251420" y="164048"/>
                </a:lnTo>
                <a:lnTo>
                  <a:pt x="297329" y="164048"/>
                </a:lnTo>
                <a:lnTo>
                  <a:pt x="297329" y="122793"/>
                </a:lnTo>
                <a:close/>
                <a:moveTo>
                  <a:pt x="188774" y="72717"/>
                </a:moveTo>
                <a:lnTo>
                  <a:pt x="142865" y="72717"/>
                </a:lnTo>
                <a:lnTo>
                  <a:pt x="142865" y="114459"/>
                </a:lnTo>
                <a:lnTo>
                  <a:pt x="188774" y="114459"/>
                </a:lnTo>
                <a:lnTo>
                  <a:pt x="188774" y="72717"/>
                </a:lnTo>
                <a:close/>
                <a:moveTo>
                  <a:pt x="243016" y="72717"/>
                </a:moveTo>
                <a:lnTo>
                  <a:pt x="197108" y="72717"/>
                </a:lnTo>
                <a:lnTo>
                  <a:pt x="197108" y="114459"/>
                </a:lnTo>
                <a:lnTo>
                  <a:pt x="243016" y="114459"/>
                </a:lnTo>
                <a:lnTo>
                  <a:pt x="243016" y="72717"/>
                </a:lnTo>
                <a:close/>
                <a:moveTo>
                  <a:pt x="435263" y="142171"/>
                </a:moveTo>
                <a:cubicBezTo>
                  <a:pt x="425261" y="135434"/>
                  <a:pt x="402203" y="133003"/>
                  <a:pt x="384493" y="136336"/>
                </a:cubicBezTo>
                <a:cubicBezTo>
                  <a:pt x="382201" y="119668"/>
                  <a:pt x="372894" y="105152"/>
                  <a:pt x="355947" y="92095"/>
                </a:cubicBezTo>
                <a:lnTo>
                  <a:pt x="346224" y="85636"/>
                </a:lnTo>
                <a:lnTo>
                  <a:pt x="339765" y="95359"/>
                </a:lnTo>
                <a:cubicBezTo>
                  <a:pt x="326985" y="114667"/>
                  <a:pt x="323513" y="146477"/>
                  <a:pt x="337195" y="167451"/>
                </a:cubicBezTo>
                <a:cubicBezTo>
                  <a:pt x="331153" y="170716"/>
                  <a:pt x="319276" y="175161"/>
                  <a:pt x="303580" y="174883"/>
                </a:cubicBezTo>
                <a:lnTo>
                  <a:pt x="1667" y="174883"/>
                </a:lnTo>
                <a:cubicBezTo>
                  <a:pt x="-4376" y="210165"/>
                  <a:pt x="5695" y="256004"/>
                  <a:pt x="32226" y="287466"/>
                </a:cubicBezTo>
                <a:cubicBezTo>
                  <a:pt x="57993" y="317956"/>
                  <a:pt x="96609" y="333444"/>
                  <a:pt x="147102" y="333444"/>
                </a:cubicBezTo>
                <a:cubicBezTo>
                  <a:pt x="256421" y="333444"/>
                  <a:pt x="337334" y="283091"/>
                  <a:pt x="375186" y="191621"/>
                </a:cubicBezTo>
                <a:cubicBezTo>
                  <a:pt x="390049" y="191899"/>
                  <a:pt x="422136" y="191691"/>
                  <a:pt x="438596" y="160228"/>
                </a:cubicBezTo>
                <a:cubicBezTo>
                  <a:pt x="439638" y="158492"/>
                  <a:pt x="443180" y="151061"/>
                  <a:pt x="444500" y="148352"/>
                </a:cubicBezTo>
                <a:lnTo>
                  <a:pt x="435263" y="142171"/>
                </a:lnTo>
                <a:close/>
                <a:moveTo>
                  <a:pt x="80288" y="122793"/>
                </a:moveTo>
                <a:lnTo>
                  <a:pt x="34449" y="122793"/>
                </a:lnTo>
                <a:lnTo>
                  <a:pt x="34449" y="164048"/>
                </a:lnTo>
                <a:lnTo>
                  <a:pt x="80357" y="164048"/>
                </a:lnTo>
                <a:lnTo>
                  <a:pt x="80357" y="122793"/>
                </a:lnTo>
                <a:lnTo>
                  <a:pt x="80288" y="122793"/>
                </a:lnTo>
                <a:close/>
                <a:moveTo>
                  <a:pt x="134531" y="122793"/>
                </a:moveTo>
                <a:lnTo>
                  <a:pt x="88622" y="122793"/>
                </a:lnTo>
                <a:lnTo>
                  <a:pt x="88622" y="164048"/>
                </a:lnTo>
                <a:lnTo>
                  <a:pt x="134531" y="164048"/>
                </a:lnTo>
                <a:lnTo>
                  <a:pt x="134531" y="122793"/>
                </a:lnTo>
                <a:close/>
                <a:moveTo>
                  <a:pt x="188774" y="122793"/>
                </a:moveTo>
                <a:lnTo>
                  <a:pt x="142865" y="122793"/>
                </a:lnTo>
                <a:lnTo>
                  <a:pt x="142865" y="164048"/>
                </a:lnTo>
                <a:lnTo>
                  <a:pt x="188774" y="164048"/>
                </a:lnTo>
                <a:lnTo>
                  <a:pt x="188774" y="122793"/>
                </a:lnTo>
                <a:close/>
                <a:moveTo>
                  <a:pt x="134531" y="72717"/>
                </a:moveTo>
                <a:lnTo>
                  <a:pt x="88622" y="72717"/>
                </a:lnTo>
                <a:lnTo>
                  <a:pt x="88622" y="114459"/>
                </a:lnTo>
                <a:lnTo>
                  <a:pt x="134531" y="114459"/>
                </a:lnTo>
                <a:lnTo>
                  <a:pt x="134531" y="72717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9906000" y="2324100"/>
            <a:ext cx="203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Docker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11938000" y="2159000"/>
            <a:ext cx="1016000" cy="0"/>
          </a:xfrm>
          <a:prstGeom prst="straightConnector1">
            <a:avLst/>
          </a:prstGeom>
          <a:noFill/>
          <a:ln w="25400">
            <a:solidFill>
              <a:srgbClr val="6C757D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12954000" y="1841500"/>
            <a:ext cx="2286000" cy="762000"/>
          </a:xfrm>
          <a:prstGeom prst="roundRect">
            <a:avLst>
              <a:gd name="adj" fmla="val 12000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13937920" y="19431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44450" y="22225"/>
                </a:moveTo>
                <a:cubicBezTo>
                  <a:pt x="19933" y="22225"/>
                  <a:pt x="0" y="42158"/>
                  <a:pt x="0" y="66675"/>
                </a:cubicBezTo>
                <a:lnTo>
                  <a:pt x="0" y="111125"/>
                </a:lnTo>
                <a:cubicBezTo>
                  <a:pt x="0" y="135642"/>
                  <a:pt x="19933" y="155575"/>
                  <a:pt x="44450" y="155575"/>
                </a:cubicBezTo>
                <a:lnTo>
                  <a:pt x="266700" y="155575"/>
                </a:lnTo>
                <a:cubicBezTo>
                  <a:pt x="291217" y="155575"/>
                  <a:pt x="311150" y="135642"/>
                  <a:pt x="311150" y="111125"/>
                </a:cubicBezTo>
                <a:lnTo>
                  <a:pt x="311150" y="66675"/>
                </a:lnTo>
                <a:cubicBezTo>
                  <a:pt x="311150" y="42158"/>
                  <a:pt x="291217" y="22225"/>
                  <a:pt x="266700" y="22225"/>
                </a:cubicBezTo>
                <a:lnTo>
                  <a:pt x="44450" y="22225"/>
                </a:lnTo>
                <a:close/>
                <a:moveTo>
                  <a:pt x="194469" y="72231"/>
                </a:moveTo>
                <a:cubicBezTo>
                  <a:pt x="203668" y="72231"/>
                  <a:pt x="211138" y="79700"/>
                  <a:pt x="211138" y="88900"/>
                </a:cubicBezTo>
                <a:cubicBezTo>
                  <a:pt x="211138" y="98100"/>
                  <a:pt x="203668" y="105569"/>
                  <a:pt x="194469" y="105569"/>
                </a:cubicBezTo>
                <a:cubicBezTo>
                  <a:pt x="185269" y="105569"/>
                  <a:pt x="177800" y="98100"/>
                  <a:pt x="177800" y="88900"/>
                </a:cubicBezTo>
                <a:cubicBezTo>
                  <a:pt x="177800" y="79700"/>
                  <a:pt x="185269" y="72231"/>
                  <a:pt x="194469" y="72231"/>
                </a:cubicBezTo>
                <a:close/>
                <a:moveTo>
                  <a:pt x="233363" y="88900"/>
                </a:moveTo>
                <a:cubicBezTo>
                  <a:pt x="233363" y="79700"/>
                  <a:pt x="240832" y="72231"/>
                  <a:pt x="250031" y="72231"/>
                </a:cubicBezTo>
                <a:cubicBezTo>
                  <a:pt x="259231" y="72231"/>
                  <a:pt x="266700" y="79700"/>
                  <a:pt x="266700" y="88900"/>
                </a:cubicBezTo>
                <a:cubicBezTo>
                  <a:pt x="266700" y="98100"/>
                  <a:pt x="259231" y="105569"/>
                  <a:pt x="250031" y="105569"/>
                </a:cubicBezTo>
                <a:cubicBezTo>
                  <a:pt x="240832" y="105569"/>
                  <a:pt x="233363" y="98100"/>
                  <a:pt x="233363" y="88900"/>
                </a:cubicBezTo>
                <a:close/>
                <a:moveTo>
                  <a:pt x="44450" y="200025"/>
                </a:moveTo>
                <a:cubicBezTo>
                  <a:pt x="19933" y="200025"/>
                  <a:pt x="0" y="219958"/>
                  <a:pt x="0" y="244475"/>
                </a:cubicBezTo>
                <a:lnTo>
                  <a:pt x="0" y="288925"/>
                </a:lnTo>
                <a:cubicBezTo>
                  <a:pt x="0" y="313442"/>
                  <a:pt x="19933" y="333375"/>
                  <a:pt x="44450" y="333375"/>
                </a:cubicBezTo>
                <a:lnTo>
                  <a:pt x="266700" y="333375"/>
                </a:lnTo>
                <a:cubicBezTo>
                  <a:pt x="291217" y="333375"/>
                  <a:pt x="311150" y="313442"/>
                  <a:pt x="311150" y="288925"/>
                </a:cubicBezTo>
                <a:lnTo>
                  <a:pt x="311150" y="244475"/>
                </a:lnTo>
                <a:cubicBezTo>
                  <a:pt x="311150" y="219958"/>
                  <a:pt x="291217" y="200025"/>
                  <a:pt x="266700" y="200025"/>
                </a:cubicBezTo>
                <a:lnTo>
                  <a:pt x="44450" y="200025"/>
                </a:lnTo>
                <a:close/>
                <a:moveTo>
                  <a:pt x="194469" y="250031"/>
                </a:moveTo>
                <a:cubicBezTo>
                  <a:pt x="203668" y="250031"/>
                  <a:pt x="211138" y="257500"/>
                  <a:pt x="211138" y="266700"/>
                </a:cubicBezTo>
                <a:cubicBezTo>
                  <a:pt x="211138" y="275900"/>
                  <a:pt x="203668" y="283369"/>
                  <a:pt x="194469" y="283369"/>
                </a:cubicBezTo>
                <a:cubicBezTo>
                  <a:pt x="185269" y="283369"/>
                  <a:pt x="177800" y="275900"/>
                  <a:pt x="177800" y="266700"/>
                </a:cubicBezTo>
                <a:cubicBezTo>
                  <a:pt x="177800" y="257500"/>
                  <a:pt x="185269" y="250031"/>
                  <a:pt x="194469" y="250031"/>
                </a:cubicBezTo>
                <a:close/>
                <a:moveTo>
                  <a:pt x="233363" y="266700"/>
                </a:moveTo>
                <a:cubicBezTo>
                  <a:pt x="233363" y="257500"/>
                  <a:pt x="240832" y="250031"/>
                  <a:pt x="250031" y="250031"/>
                </a:cubicBezTo>
                <a:cubicBezTo>
                  <a:pt x="259231" y="250031"/>
                  <a:pt x="266700" y="257500"/>
                  <a:pt x="266700" y="266700"/>
                </a:cubicBezTo>
                <a:cubicBezTo>
                  <a:pt x="266700" y="275900"/>
                  <a:pt x="259231" y="283369"/>
                  <a:pt x="250031" y="283369"/>
                </a:cubicBezTo>
                <a:cubicBezTo>
                  <a:pt x="240832" y="283369"/>
                  <a:pt x="233363" y="275900"/>
                  <a:pt x="233363" y="266700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2954000" y="2324100"/>
            <a:ext cx="228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YourTree API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62000" y="3048000"/>
            <a:ext cx="4699000" cy="38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1016000" y="3276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/>
            </a:pathLst>
          </a:custGeom>
          <a:solidFill>
            <a:srgbClr val="2496ED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016000" y="38100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4332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Dockerization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016000" y="4254500"/>
            <a:ext cx="4191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Contenedores para asegurar que el entorno de desarrollo sea idéntico al de producción.</a:t>
            </a:r>
            <a:endParaRPr lang="en-US" sz="1800" dirty="0">
              <a:latin typeface="Quattrocento Sans" panose="020B0502050000020003" pitchFamily="34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Servicios:</a:t>
            </a:r>
            <a:endParaRPr lang="en-US" sz="1800" dirty="0">
              <a:latin typeface="Quattrocento Sans" panose="020B0502050000020003" pitchFamily="34" charset="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Backend (Node.js)</a:t>
            </a:r>
            <a:endParaRPr lang="en-US" sz="1800" dirty="0">
              <a:latin typeface="Quattrocento Sans" panose="020B0502050000020003" pitchFamily="34" charset="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Base de datos (PostgreSQL)</a:t>
            </a:r>
            <a:endParaRPr lang="en-US" sz="1800" dirty="0">
              <a:latin typeface="Quattrocento Sans" panose="020B0502050000020003" pitchFamily="34" charset="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Nginx (Proxy inverso)</a:t>
            </a:r>
            <a:endParaRPr lang="en-US" sz="1800" dirty="0">
              <a:latin typeface="Quattrocento Sans" panose="020B0502050000020003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5778500" y="3048000"/>
            <a:ext cx="4699000" cy="38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083300" y="32766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101600" y="76200"/>
                </a:moveTo>
                <a:lnTo>
                  <a:pt x="101600" y="127000"/>
                </a:lnTo>
                <a:lnTo>
                  <a:pt x="203200" y="127000"/>
                </a:lnTo>
                <a:lnTo>
                  <a:pt x="203200" y="76200"/>
                </a:lnTo>
                <a:cubicBezTo>
                  <a:pt x="203200" y="48181"/>
                  <a:pt x="180419" y="25400"/>
                  <a:pt x="152400" y="25400"/>
                </a:cubicBezTo>
                <a:cubicBezTo>
                  <a:pt x="124381" y="25400"/>
                  <a:pt x="101600" y="48181"/>
                  <a:pt x="101600" y="76200"/>
                </a:cubicBezTo>
                <a:close/>
                <a:moveTo>
                  <a:pt x="50800" y="127000"/>
                </a:moveTo>
                <a:lnTo>
                  <a:pt x="50800" y="76200"/>
                </a:lnTo>
                <a:cubicBezTo>
                  <a:pt x="50800" y="20082"/>
                  <a:pt x="96282" y="-25400"/>
                  <a:pt x="152400" y="-25400"/>
                </a:cubicBezTo>
                <a:cubicBezTo>
                  <a:pt x="208518" y="-25400"/>
                  <a:pt x="254000" y="20082"/>
                  <a:pt x="254000" y="76200"/>
                </a:cubicBezTo>
                <a:lnTo>
                  <a:pt x="254000" y="127000"/>
                </a:lnTo>
                <a:cubicBezTo>
                  <a:pt x="282019" y="127000"/>
                  <a:pt x="304800" y="149781"/>
                  <a:pt x="304800" y="177800"/>
                </a:cubicBezTo>
                <a:lnTo>
                  <a:pt x="304800" y="355600"/>
                </a:lnTo>
                <a:cubicBezTo>
                  <a:pt x="304800" y="383619"/>
                  <a:pt x="282019" y="406400"/>
                  <a:pt x="254000" y="406400"/>
                </a:cubicBezTo>
                <a:lnTo>
                  <a:pt x="50800" y="406400"/>
                </a:lnTo>
                <a:cubicBezTo>
                  <a:pt x="22781" y="406400"/>
                  <a:pt x="0" y="383619"/>
                  <a:pt x="0" y="355600"/>
                </a:cubicBezTo>
                <a:lnTo>
                  <a:pt x="0" y="177800"/>
                </a:lnTo>
                <a:cubicBezTo>
                  <a:pt x="0" y="149781"/>
                  <a:pt x="22781" y="127000"/>
                  <a:pt x="50800" y="127000"/>
                </a:cubicBezTo>
                <a:close/>
              </a:path>
            </a:pathLst>
          </a:custGeom>
          <a:solidFill>
            <a:srgbClr val="009639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032500" y="38100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4332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Proxy Inverso y SSL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032500" y="4254500"/>
            <a:ext cx="4191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Nginx gestiona tráfico y Certbot automatiza TLS.</a:t>
            </a:r>
            <a:endParaRPr lang="en-US" sz="1800" dirty="0">
              <a:latin typeface="Quattrocento Sans" panose="020B0502050000020003" pitchFamily="34" charset="0"/>
            </a:endParaRPr>
          </a:p>
          <a:p>
            <a:pPr>
              <a:lnSpc>
                <a:spcPct val="145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Funciones:</a:t>
            </a:r>
            <a:endParaRPr lang="en-US" sz="1800" dirty="0">
              <a:latin typeface="Quattrocento Sans" panose="020B0502050000020003" pitchFamily="34" charset="0"/>
            </a:endParaRPr>
          </a:p>
          <a:p>
            <a:pPr marL="285750" indent="-285750">
              <a:lnSpc>
                <a:spcPct val="145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Terminación SSL/TLS</a:t>
            </a:r>
            <a:endParaRPr lang="en-US" sz="1800" dirty="0">
              <a:latin typeface="Quattrocento Sans" panose="020B0502050000020003" pitchFamily="34" charset="0"/>
            </a:endParaRPr>
          </a:p>
          <a:p>
            <a:pPr marL="285750" indent="-285750">
              <a:lnSpc>
                <a:spcPct val="145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Balanceo de carga</a:t>
            </a:r>
            <a:endParaRPr lang="en-US" sz="1800" dirty="0">
              <a:latin typeface="Quattrocento Sans" panose="020B0502050000020003" pitchFamily="34" charset="0"/>
            </a:endParaRPr>
          </a:p>
          <a:p>
            <a:pPr marL="285750" indent="-285750">
              <a:lnSpc>
                <a:spcPct val="145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Compresión Gzip</a:t>
            </a:r>
            <a:endParaRPr lang="en-US" sz="1800" dirty="0">
              <a:latin typeface="Quattrocento Sans" panose="020B0502050000020003" pitchFamily="34" charset="0"/>
            </a:endParaRPr>
          </a:p>
          <a:p>
            <a:pPr marL="285750" indent="-285750">
              <a:lnSpc>
                <a:spcPct val="145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Cacheo de estáticos</a:t>
            </a:r>
            <a:endParaRPr lang="en-US" sz="1800" dirty="0">
              <a:latin typeface="Quattrocento Sans" panose="020B0502050000020003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10795000" y="3048000"/>
            <a:ext cx="4699000" cy="38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11049000" y="3276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06851" y="0"/>
                  <a:pt x="210503" y="794"/>
                  <a:pt x="213836" y="2302"/>
                </a:cubicBezTo>
                <a:lnTo>
                  <a:pt x="363379" y="65723"/>
                </a:lnTo>
                <a:cubicBezTo>
                  <a:pt x="380841" y="73104"/>
                  <a:pt x="393859" y="90329"/>
                  <a:pt x="393779" y="111125"/>
                </a:cubicBezTo>
                <a:cubicBezTo>
                  <a:pt x="393383" y="189865"/>
                  <a:pt x="360998" y="333931"/>
                  <a:pt x="224234" y="399415"/>
                </a:cubicBezTo>
                <a:cubicBezTo>
                  <a:pt x="210979" y="405765"/>
                  <a:pt x="195580" y="405765"/>
                  <a:pt x="182324" y="399415"/>
                </a:cubicBezTo>
                <a:cubicBezTo>
                  <a:pt x="45482" y="333931"/>
                  <a:pt x="13176" y="189865"/>
                  <a:pt x="12779" y="111125"/>
                </a:cubicBezTo>
                <a:cubicBezTo>
                  <a:pt x="12700" y="90329"/>
                  <a:pt x="25717" y="73104"/>
                  <a:pt x="43180" y="65723"/>
                </a:cubicBezTo>
                <a:lnTo>
                  <a:pt x="192643" y="2302"/>
                </a:lnTo>
                <a:cubicBezTo>
                  <a:pt x="195977" y="794"/>
                  <a:pt x="199549" y="0"/>
                  <a:pt x="203200" y="0"/>
                </a:cubicBezTo>
                <a:close/>
                <a:moveTo>
                  <a:pt x="203200" y="53022"/>
                </a:moveTo>
                <a:lnTo>
                  <a:pt x="203200" y="353139"/>
                </a:lnTo>
                <a:cubicBezTo>
                  <a:pt x="312738" y="300117"/>
                  <a:pt x="342186" y="182642"/>
                  <a:pt x="342900" y="112316"/>
                </a:cubicBezTo>
                <a:lnTo>
                  <a:pt x="203200" y="53102"/>
                </a:lnTo>
                <a:lnTo>
                  <a:pt x="203200" y="53102"/>
                </a:lnTo>
                <a:close/>
              </a:path>
            </a:pathLst>
          </a:custGeom>
          <a:solidFill>
            <a:srgbClr val="F48120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11049000" y="38100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4332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Protección Edge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11049000" y="4254500"/>
            <a:ext cx="4191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Cloudflare mitiga DDoS y acelera contenido.</a:t>
            </a:r>
            <a:endParaRPr lang="en-US" sz="1800" dirty="0">
              <a:latin typeface="Quattrocento Sans" panose="020B0502050000020003" pitchFamily="34" charset="0"/>
            </a:endParaRPr>
          </a:p>
          <a:p>
            <a:pPr>
              <a:lnSpc>
                <a:spcPct val="145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Protección:</a:t>
            </a:r>
            <a:endParaRPr lang="en-US" sz="1800" dirty="0">
              <a:latin typeface="Quattrocento Sans" panose="020B0502050000020003" pitchFamily="34" charset="0"/>
            </a:endParaRPr>
          </a:p>
          <a:p>
            <a:pPr marL="285750" indent="-285750">
              <a:lnSpc>
                <a:spcPct val="145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Firewall de aplicaciones web</a:t>
            </a:r>
            <a:endParaRPr lang="en-US" sz="1800" dirty="0">
              <a:latin typeface="Quattrocento Sans" panose="020B0502050000020003" pitchFamily="34" charset="0"/>
            </a:endParaRPr>
          </a:p>
          <a:p>
            <a:pPr marL="285750" indent="-285750">
              <a:lnSpc>
                <a:spcPct val="145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CDN global</a:t>
            </a:r>
            <a:endParaRPr lang="en-US" sz="1800" dirty="0">
              <a:latin typeface="Quattrocento Sans" panose="020B0502050000020003" pitchFamily="34" charset="0"/>
            </a:endParaRPr>
          </a:p>
          <a:p>
            <a:pPr marL="285750" indent="-285750">
              <a:lnSpc>
                <a:spcPct val="145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Protección DDoS</a:t>
            </a:r>
            <a:endParaRPr lang="en-US" sz="1800" dirty="0">
              <a:latin typeface="Quattrocento Sans" panose="020B0502050000020003" pitchFamily="34" charset="0"/>
            </a:endParaRPr>
          </a:p>
          <a:p>
            <a:pPr marL="285750" indent="-285750">
              <a:lnSpc>
                <a:spcPct val="145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DNS seguro</a:t>
            </a:r>
            <a:endParaRPr lang="en-US" sz="1800" dirty="0">
              <a:latin typeface="Quattrocento Sans" panose="020B0502050000020003" pitchFamily="34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762000" y="71755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1123950" y="7429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16277" y="22225"/>
                </a:moveTo>
                <a:lnTo>
                  <a:pt x="222250" y="22225"/>
                </a:lnTo>
                <a:cubicBezTo>
                  <a:pt x="246767" y="22225"/>
                  <a:pt x="266700" y="42158"/>
                  <a:pt x="266700" y="66675"/>
                </a:cubicBezTo>
                <a:lnTo>
                  <a:pt x="266700" y="311150"/>
                </a:lnTo>
                <a:cubicBezTo>
                  <a:pt x="266700" y="335667"/>
                  <a:pt x="246767" y="355600"/>
                  <a:pt x="222250" y="355600"/>
                </a:cubicBezTo>
                <a:lnTo>
                  <a:pt x="44450" y="355600"/>
                </a:lnTo>
                <a:cubicBezTo>
                  <a:pt x="19933" y="355600"/>
                  <a:pt x="0" y="335667"/>
                  <a:pt x="0" y="311150"/>
                </a:cubicBezTo>
                <a:lnTo>
                  <a:pt x="0" y="66675"/>
                </a:lnTo>
                <a:cubicBezTo>
                  <a:pt x="0" y="42158"/>
                  <a:pt x="19933" y="22225"/>
                  <a:pt x="44450" y="22225"/>
                </a:cubicBezTo>
                <a:lnTo>
                  <a:pt x="50423" y="22225"/>
                </a:lnTo>
                <a:cubicBezTo>
                  <a:pt x="58063" y="8959"/>
                  <a:pt x="72440" y="0"/>
                  <a:pt x="88900" y="0"/>
                </a:cubicBezTo>
                <a:lnTo>
                  <a:pt x="177800" y="0"/>
                </a:lnTo>
                <a:cubicBezTo>
                  <a:pt x="194260" y="0"/>
                  <a:pt x="208637" y="8959"/>
                  <a:pt x="216277" y="22225"/>
                </a:cubicBezTo>
                <a:close/>
                <a:moveTo>
                  <a:pt x="172244" y="77788"/>
                </a:moveTo>
                <a:cubicBezTo>
                  <a:pt x="181481" y="77788"/>
                  <a:pt x="188913" y="70356"/>
                  <a:pt x="188913" y="61119"/>
                </a:cubicBezTo>
                <a:cubicBezTo>
                  <a:pt x="188913" y="51881"/>
                  <a:pt x="181481" y="44450"/>
                  <a:pt x="172244" y="44450"/>
                </a:cubicBezTo>
                <a:lnTo>
                  <a:pt x="94456" y="44450"/>
                </a:lnTo>
                <a:cubicBezTo>
                  <a:pt x="85219" y="44450"/>
                  <a:pt x="77788" y="51881"/>
                  <a:pt x="77788" y="61119"/>
                </a:cubicBezTo>
                <a:cubicBezTo>
                  <a:pt x="77788" y="70356"/>
                  <a:pt x="85219" y="77788"/>
                  <a:pt x="94456" y="77788"/>
                </a:cubicBezTo>
                <a:lnTo>
                  <a:pt x="172244" y="77788"/>
                </a:lnTo>
                <a:close/>
                <a:moveTo>
                  <a:pt x="191968" y="181064"/>
                </a:moveTo>
                <a:cubicBezTo>
                  <a:pt x="196830" y="173286"/>
                  <a:pt x="194469" y="163006"/>
                  <a:pt x="186690" y="158075"/>
                </a:cubicBezTo>
                <a:cubicBezTo>
                  <a:pt x="178911" y="153144"/>
                  <a:pt x="168632" y="155575"/>
                  <a:pt x="163701" y="163354"/>
                </a:cubicBezTo>
                <a:lnTo>
                  <a:pt x="121057" y="231626"/>
                </a:lnTo>
                <a:lnTo>
                  <a:pt x="102304" y="206623"/>
                </a:lnTo>
                <a:cubicBezTo>
                  <a:pt x="96748" y="199261"/>
                  <a:pt x="86330" y="197733"/>
                  <a:pt x="78968" y="203289"/>
                </a:cubicBezTo>
                <a:cubicBezTo>
                  <a:pt x="71606" y="208846"/>
                  <a:pt x="70078" y="219264"/>
                  <a:pt x="75634" y="226626"/>
                </a:cubicBezTo>
                <a:lnTo>
                  <a:pt x="108972" y="271076"/>
                </a:lnTo>
                <a:cubicBezTo>
                  <a:pt x="112236" y="275451"/>
                  <a:pt x="117515" y="277951"/>
                  <a:pt x="123001" y="277743"/>
                </a:cubicBezTo>
                <a:cubicBezTo>
                  <a:pt x="128488" y="277535"/>
                  <a:pt x="133489" y="274618"/>
                  <a:pt x="136406" y="269895"/>
                </a:cubicBezTo>
                <a:lnTo>
                  <a:pt x="191968" y="180995"/>
                </a:ln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1587500" y="7302500"/>
            <a:ext cx="1358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Auditoría de Seguridad:</a:t>
            </a:r>
            <a:r>
              <a:rPr lang="en-US" sz="16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 OWASP ZAP para análisis automatizado de vulnerabilidades. El informe completo está disponible en los anexos del proyecto.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C757D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8 / 12</a:t>
            </a:r>
            <a:endParaRPr lang="en-US" sz="1400" dirty="0">
              <a:latin typeface="Quattrocento Sans" panose="020B0502050000020003" pitchFamily="34" charset="0"/>
            </a:endParaRPr>
          </a:p>
        </p:txBody>
      </p:sp>
      <p:pic>
        <p:nvPicPr>
          <p:cNvPr id="5122" name="Picture 2" descr="Devops - Iconos gratis de flechas">
            <a:extLst>
              <a:ext uri="{FF2B5EF4-FFF2-40B4-BE49-F238E27FC236}">
                <a16:creationId xmlns:a16="http://schemas.microsoft.com/office/drawing/2014/main" id="{57DB2448-BE8B-FB0A-8CE4-C5DB43EDBE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" y="704850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76200" y="76200"/>
            <a:ext cx="1879600" cy="35560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s-ES">
              <a:solidFill>
                <a:schemeClr val="bg1"/>
              </a:solidFill>
              <a:latin typeface="Quattrocento Sans" panose="020B0502050000020003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0" y="0"/>
            <a:ext cx="2032000" cy="508000"/>
          </a:xfrm>
          <a:prstGeom prst="rect">
            <a:avLst/>
          </a:prstGeom>
          <a:solidFill>
            <a:srgbClr val="1B4332"/>
          </a:solidFill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chemeClr val="bg1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VIABILIDAD</a:t>
            </a:r>
            <a:endParaRPr lang="en-US" sz="1200" dirty="0">
              <a:solidFill>
                <a:schemeClr val="bg1"/>
              </a:solidFill>
              <a:latin typeface="Quattrocento Sans" panose="020B0502050000020003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62000" y="736600"/>
            <a:ext cx="50800" cy="35560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65200" y="6985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4332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Viabilidad Económica y Escalabilidad</a:t>
            </a:r>
            <a:endParaRPr lang="en-US" sz="2800" dirty="0">
              <a:latin typeface="Quattrocento Sans" panose="020B0502050000020003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62000" y="1397000"/>
            <a:ext cx="4699000" cy="1651000"/>
          </a:xfrm>
          <a:prstGeom prst="roundRect">
            <a:avLst>
              <a:gd name="adj" fmla="val 6000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16000" y="15240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66667"/>
                  </a:srgbClr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INVERSIÓN INICIAL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16000" y="1879600"/>
            <a:ext cx="4191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1.936 €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16000" y="2540000"/>
            <a:ext cx="419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Desarrollo + licencias iniciales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778500" y="1397000"/>
            <a:ext cx="4699000" cy="1651000"/>
          </a:xfrm>
          <a:prstGeom prst="roundRect">
            <a:avLst>
              <a:gd name="adj" fmla="val 6000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032500" y="15240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66667"/>
                  </a:srgbClr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COSTES OPERATIVOS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032500" y="1879600"/>
            <a:ext cx="4191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&lt; 15 €/mes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032500" y="2540000"/>
            <a:ext cx="419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VPS eficiente + Software Open Source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0795000" y="1397000"/>
            <a:ext cx="4699000" cy="1651000"/>
          </a:xfrm>
          <a:prstGeom prst="roundRect">
            <a:avLst>
              <a:gd name="adj" fmla="val 6000"/>
            </a:avLst>
          </a:prstGeom>
          <a:solidFill>
            <a:srgbClr val="2D6A4F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1049000" y="15240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66667"/>
                  </a:srgbClr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MODELO DE NEGOCIO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049000" y="1879600"/>
            <a:ext cx="4191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Freemium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1049000" y="2540000"/>
            <a:ext cx="419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Plan gratuito + Premium + AdSense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62000" y="33655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6C757D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Proyección de Break-Even Point</a:t>
            </a:r>
            <a:endParaRPr lang="en-US" sz="2000" dirty="0">
              <a:latin typeface="Quattrocento Sans" panose="020B0502050000020003" pitchFamily="34" charset="0"/>
            </a:endParaRPr>
          </a:p>
        </p:txBody>
      </p:sp>
      <p:graphicFrame>
        <p:nvGraphicFramePr>
          <p:cNvPr id="27" name="Chart 0"/>
          <p:cNvGraphicFramePr/>
          <p:nvPr>
            <p:extLst>
              <p:ext uri="{D42A27DB-BD31-4B8C-83A1-F6EECF244321}">
                <p14:modId xmlns:p14="http://schemas.microsoft.com/office/powerpoint/2010/main" val="2320835453"/>
              </p:ext>
            </p:extLst>
          </p:nvPr>
        </p:nvGraphicFramePr>
        <p:xfrm>
          <a:off x="762000" y="3810000"/>
          <a:ext cx="7620000" cy="43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Text 25"/>
          <p:cNvSpPr/>
          <p:nvPr/>
        </p:nvSpPr>
        <p:spPr>
          <a:xfrm>
            <a:off x="8890000" y="3365500"/>
            <a:ext cx="660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6C757D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Escalabilidad y Ventajas</a:t>
            </a:r>
            <a:endParaRPr lang="en-US" sz="2000" dirty="0">
              <a:latin typeface="Quattrocento Sans" panose="020B0502050000020003" pitchFamily="34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8890000" y="3810000"/>
            <a:ext cx="66040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500" b="1" dirty="0">
                <a:solidFill>
                  <a:srgbClr val="1B4332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Escalado Vertical</a:t>
            </a:r>
            <a:endParaRPr lang="en-US" sz="1800" dirty="0">
              <a:latin typeface="Quattrocento Sans" panose="020B0502050000020003" pitchFamily="34" charset="0"/>
            </a:endParaRPr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Aumentar recursos del VPS sin reconfiguración gracias a Docker.</a:t>
            </a:r>
            <a:endParaRPr lang="en-US" sz="1800" dirty="0">
              <a:latin typeface="Quattrocento Sans" panose="020B0502050000020003" pitchFamily="34" charset="0"/>
            </a:endParaRPr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1B4332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Escalado Horizontal</a:t>
            </a:r>
            <a:endParaRPr lang="en-US" sz="1800" dirty="0">
              <a:latin typeface="Quattrocento Sans" panose="020B0502050000020003" pitchFamily="34" charset="0"/>
            </a:endParaRPr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Replicar contenedores y balancear con Nginx. PostgreSQL soporta réplicas.</a:t>
            </a:r>
            <a:endParaRPr lang="en-US" sz="1800" dirty="0">
              <a:latin typeface="Quattrocento Sans" panose="020B0502050000020003" pitchFamily="34" charset="0"/>
            </a:endParaRPr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1B4332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Stack Open Source</a:t>
            </a:r>
            <a:endParaRPr lang="en-US" sz="1800" dirty="0">
              <a:latin typeface="Quattrocento Sans" panose="020B0502050000020003" pitchFamily="34" charset="0"/>
            </a:endParaRPr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Sin costes de licenciamiento: React, Node.js, PostgreSQL, Docker, Nginx.</a:t>
            </a:r>
            <a:endParaRPr lang="en-US" sz="1800" dirty="0">
              <a:latin typeface="Quattrocento Sans" panose="020B0502050000020003" pitchFamily="34" charset="0"/>
            </a:endParaRPr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1B4332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Cloud-Ready</a:t>
            </a:r>
            <a:endParaRPr lang="en-US" sz="1800" dirty="0">
              <a:latin typeface="Quattrocento Sans" panose="020B0502050000020003" pitchFamily="34" charset="0"/>
            </a:endParaRPr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Compatible con AWS, GCP, Azure sin cambios de código.</a:t>
            </a:r>
            <a:endParaRPr lang="en-US" sz="1800" dirty="0">
              <a:latin typeface="Quattrocento Sans" panose="020B0502050000020003" pitchFamily="34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C757D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9 / 12</a:t>
            </a:r>
            <a:endParaRPr lang="en-US" sz="1400" dirty="0">
              <a:latin typeface="Quattrocento Sans" panose="020B0502050000020003" pitchFamily="34" charset="0"/>
            </a:endParaRPr>
          </a:p>
        </p:txBody>
      </p:sp>
      <p:pic>
        <p:nvPicPr>
          <p:cNvPr id="3074" name="Picture 2" descr="▷ Desarrollo de Proyectos Fotovoltaicos ☀️ Grupo RDS">
            <a:extLst>
              <a:ext uri="{FF2B5EF4-FFF2-40B4-BE49-F238E27FC236}">
                <a16:creationId xmlns:a16="http://schemas.microsoft.com/office/drawing/2014/main" id="{054D788B-B9DB-35BB-64B1-EA33340B64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711200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A57194-ABC2-2931-3E7F-762AAFD98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92205B0A-7E61-EAD5-8B90-51C1E86D7BBD}"/>
              </a:ext>
            </a:extLst>
          </p:cNvPr>
          <p:cNvSpPr/>
          <p:nvPr/>
        </p:nvSpPr>
        <p:spPr>
          <a:xfrm>
            <a:off x="77156" y="73082"/>
            <a:ext cx="1879600" cy="355600"/>
          </a:xfrm>
          <a:prstGeom prst="roundRect">
            <a:avLst>
              <a:gd name="adj" fmla="val 8000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 lang="es-ES" noProof="0" dirty="0">
              <a:solidFill>
                <a:schemeClr val="bg1"/>
              </a:solidFill>
              <a:latin typeface="Quattrocento Sans" panose="020B0502050000020003" pitchFamily="34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9583990-7B6C-D4FE-0366-204D999F258B}"/>
              </a:ext>
            </a:extLst>
          </p:cNvPr>
          <p:cNvSpPr/>
          <p:nvPr/>
        </p:nvSpPr>
        <p:spPr>
          <a:xfrm>
            <a:off x="956" y="-3118"/>
            <a:ext cx="2032000" cy="508000"/>
          </a:xfrm>
          <a:prstGeom prst="rect">
            <a:avLst/>
          </a:prstGeom>
          <a:solidFill>
            <a:srgbClr val="1B4332"/>
          </a:solidFill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s-ES" sz="1200" b="1" noProof="0" dirty="0">
                <a:solidFill>
                  <a:schemeClr val="bg1"/>
                </a:solidFill>
                <a:latin typeface="Quattrocento Sans" panose="020B0502050000020003" pitchFamily="34" charset="0"/>
              </a:rPr>
              <a:t>USOS Y FUNCIONABILIDAD</a:t>
            </a: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03DACA46-B052-79FA-9E89-BBBE9C568ADB}"/>
              </a:ext>
            </a:extLst>
          </p:cNvPr>
          <p:cNvSpPr/>
          <p:nvPr/>
        </p:nvSpPr>
        <p:spPr>
          <a:xfrm>
            <a:off x="762000" y="736600"/>
            <a:ext cx="50800" cy="35560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s-ES" noProof="0" dirty="0">
              <a:latin typeface="Quattrocento Sans" panose="020B0502050000020003" pitchFamily="34" charset="0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A597BC5-FE00-6F23-C047-C992FE07D23C}"/>
              </a:ext>
            </a:extLst>
          </p:cNvPr>
          <p:cNvSpPr/>
          <p:nvPr/>
        </p:nvSpPr>
        <p:spPr>
          <a:xfrm>
            <a:off x="965200" y="6985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s-ES" sz="2800" b="1" noProof="0" dirty="0">
                <a:solidFill>
                  <a:srgbClr val="1B4332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Usos de la aplicación</a:t>
            </a:r>
            <a:endParaRPr lang="es-ES" sz="2800" noProof="0" dirty="0">
              <a:latin typeface="Quattrocento Sans" panose="020B0502050000020003" pitchFamily="34" charset="0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64893D5-013C-0F53-27EB-2B680166254B}"/>
              </a:ext>
            </a:extLst>
          </p:cNvPr>
          <p:cNvSpPr/>
          <p:nvPr/>
        </p:nvSpPr>
        <p:spPr>
          <a:xfrm>
            <a:off x="762000" y="1397000"/>
            <a:ext cx="4699000" cy="355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s-ES" noProof="0" dirty="0">
              <a:latin typeface="Quattrocento Sans" panose="020B0502050000020003" pitchFamily="34" charset="0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3C36330-A7EC-AE4C-CECD-817D74F9F7B1}"/>
              </a:ext>
            </a:extLst>
          </p:cNvPr>
          <p:cNvSpPr/>
          <p:nvPr/>
        </p:nvSpPr>
        <p:spPr>
          <a:xfrm>
            <a:off x="1016000" y="21590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2000" b="1" noProof="0" dirty="0">
                <a:solidFill>
                  <a:srgbClr val="1B4332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Difusión</a:t>
            </a:r>
            <a:endParaRPr lang="es-ES" sz="1600" noProof="0" dirty="0">
              <a:latin typeface="Quattrocento Sans" panose="020B0502050000020003" pitchFamily="34" charset="0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958020C1-A996-7463-A7FC-9459524302FA}"/>
              </a:ext>
            </a:extLst>
          </p:cNvPr>
          <p:cNvSpPr/>
          <p:nvPr/>
        </p:nvSpPr>
        <p:spPr>
          <a:xfrm>
            <a:off x="1016000" y="2641600"/>
            <a:ext cx="4191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s-ES" sz="1500" noProof="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Darse a conocer mediante distintos lugares.</a:t>
            </a:r>
          </a:p>
          <a:p>
            <a:pPr>
              <a:lnSpc>
                <a:spcPct val="145000"/>
              </a:lnSpc>
            </a:pPr>
            <a:r>
              <a:rPr lang="es-ES" sz="1500" noProof="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Permite:</a:t>
            </a:r>
            <a:endParaRPr lang="es-ES" sz="1800" noProof="0" dirty="0">
              <a:latin typeface="Quattrocento Sans" panose="020B0502050000020003" pitchFamily="34" charset="0"/>
            </a:endParaRPr>
          </a:p>
          <a:p>
            <a:pPr marL="285750" indent="-285750">
              <a:lnSpc>
                <a:spcPct val="145000"/>
              </a:lnSpc>
              <a:spcBef>
                <a:spcPts val="10"/>
              </a:spcBef>
              <a:buSzPct val="100000"/>
              <a:buChar char="•"/>
            </a:pPr>
            <a:r>
              <a:rPr lang="es-ES" sz="1500" noProof="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</a:rPr>
              <a:t>Dar a conocer tu perfil</a:t>
            </a:r>
          </a:p>
          <a:p>
            <a:pPr marL="285750" indent="-285750">
              <a:lnSpc>
                <a:spcPct val="145000"/>
              </a:lnSpc>
              <a:spcBef>
                <a:spcPts val="10"/>
              </a:spcBef>
              <a:buSzPct val="100000"/>
              <a:buChar char="•"/>
            </a:pPr>
            <a:r>
              <a:rPr lang="es-ES" sz="1500" noProof="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</a:rPr>
              <a:t>Estar presente en distintas redes sociales.</a:t>
            </a:r>
          </a:p>
          <a:p>
            <a:pPr marL="285750" indent="-285750">
              <a:lnSpc>
                <a:spcPct val="145000"/>
              </a:lnSpc>
              <a:spcBef>
                <a:spcPts val="10"/>
              </a:spcBef>
              <a:buSzPct val="100000"/>
              <a:buChar char="•"/>
            </a:pPr>
            <a:r>
              <a:rPr lang="es-ES" sz="1500" noProof="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</a:rPr>
              <a:t>Redirecciona tu trafico a un solo lugar</a:t>
            </a:r>
            <a:endParaRPr lang="es-ES" sz="1800" noProof="0" dirty="0">
              <a:latin typeface="Quattrocento Sans" panose="020B0502050000020003" pitchFamily="34" charset="0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C94AE360-760C-7CB8-B380-C4A0A268C5E6}"/>
              </a:ext>
            </a:extLst>
          </p:cNvPr>
          <p:cNvSpPr/>
          <p:nvPr/>
        </p:nvSpPr>
        <p:spPr>
          <a:xfrm>
            <a:off x="5778500" y="1397000"/>
            <a:ext cx="4699000" cy="355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s-ES" noProof="0" dirty="0">
              <a:latin typeface="Quattrocento Sans" panose="020B0502050000020003" pitchFamily="34" charset="0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C94FFA48-D46D-16F4-DACE-D11597BD96E5}"/>
              </a:ext>
            </a:extLst>
          </p:cNvPr>
          <p:cNvSpPr/>
          <p:nvPr/>
        </p:nvSpPr>
        <p:spPr>
          <a:xfrm>
            <a:off x="6032500" y="21590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2000" b="1" noProof="0" dirty="0">
                <a:solidFill>
                  <a:srgbClr val="1B4332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Centralizar</a:t>
            </a:r>
            <a:endParaRPr lang="es-ES" sz="1600" noProof="0" dirty="0">
              <a:latin typeface="Quattrocento Sans" panose="020B0502050000020003" pitchFamily="34" charset="0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31AF99EE-434D-96A6-F9BD-60031F4EAE2E}"/>
              </a:ext>
            </a:extLst>
          </p:cNvPr>
          <p:cNvSpPr/>
          <p:nvPr/>
        </p:nvSpPr>
        <p:spPr>
          <a:xfrm>
            <a:off x="6032500" y="2641600"/>
            <a:ext cx="4191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s-ES" sz="1500" noProof="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Mantener los recursos importantes en un solo lugar.</a:t>
            </a:r>
            <a:endParaRPr lang="es-ES" sz="1800" noProof="0" dirty="0">
              <a:latin typeface="Quattrocento Sans" panose="020B0502050000020003" pitchFamily="34" charset="0"/>
            </a:endParaRPr>
          </a:p>
          <a:p>
            <a:pPr>
              <a:lnSpc>
                <a:spcPct val="145000"/>
              </a:lnSpc>
              <a:spcBef>
                <a:spcPts val="400"/>
              </a:spcBef>
            </a:pPr>
            <a:r>
              <a:rPr lang="es-ES" sz="1500" noProof="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Permite:</a:t>
            </a:r>
            <a:endParaRPr lang="es-ES" sz="1800" noProof="0" dirty="0">
              <a:latin typeface="Quattrocento Sans" panose="020B0502050000020003" pitchFamily="34" charset="0"/>
            </a:endParaRPr>
          </a:p>
          <a:p>
            <a:pPr marL="285750" indent="-285750">
              <a:lnSpc>
                <a:spcPct val="145000"/>
              </a:lnSpc>
              <a:spcBef>
                <a:spcPts val="10"/>
              </a:spcBef>
              <a:buSzPct val="100000"/>
              <a:buChar char="•"/>
            </a:pPr>
            <a:r>
              <a:rPr lang="es-ES" sz="1500" noProof="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Agrupar los recursos online</a:t>
            </a:r>
            <a:endParaRPr lang="es-ES" sz="1800" noProof="0" dirty="0">
              <a:latin typeface="Quattrocento Sans" panose="020B0502050000020003" pitchFamily="34" charset="0"/>
            </a:endParaRPr>
          </a:p>
          <a:p>
            <a:pPr marL="285750" indent="-285750">
              <a:lnSpc>
                <a:spcPct val="145000"/>
              </a:lnSpc>
              <a:spcBef>
                <a:spcPts val="10"/>
              </a:spcBef>
              <a:buSzPct val="100000"/>
              <a:buChar char="•"/>
            </a:pPr>
            <a:r>
              <a:rPr lang="es-ES" sz="1500" noProof="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Definir como se visualizarán</a:t>
            </a:r>
            <a:endParaRPr lang="es-ES" sz="1800" noProof="0" dirty="0">
              <a:latin typeface="Quattrocento Sans" panose="020B0502050000020003" pitchFamily="34" charset="0"/>
            </a:endParaRPr>
          </a:p>
          <a:p>
            <a:pPr marL="285750" indent="-285750">
              <a:lnSpc>
                <a:spcPct val="145000"/>
              </a:lnSpc>
              <a:spcBef>
                <a:spcPts val="10"/>
              </a:spcBef>
              <a:buSzPct val="100000"/>
              <a:buChar char="•"/>
            </a:pPr>
            <a:r>
              <a:rPr lang="es-ES" sz="1500" noProof="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Mantener una marca personal</a:t>
            </a:r>
            <a:endParaRPr lang="es-ES" sz="1800" noProof="0" dirty="0">
              <a:latin typeface="Quattrocento Sans" panose="020B0502050000020003" pitchFamily="34" charset="0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F6EEFA40-36BA-2F30-0638-163D1918BA85}"/>
              </a:ext>
            </a:extLst>
          </p:cNvPr>
          <p:cNvSpPr/>
          <p:nvPr/>
        </p:nvSpPr>
        <p:spPr>
          <a:xfrm>
            <a:off x="10795000" y="1397000"/>
            <a:ext cx="4699000" cy="355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s-ES" noProof="0" dirty="0">
              <a:latin typeface="Quattrocento Sans" panose="020B0502050000020003" pitchFamily="34" charset="0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F6918D49-5F86-A5FB-7449-67AFD0C9B205}"/>
              </a:ext>
            </a:extLst>
          </p:cNvPr>
          <p:cNvSpPr/>
          <p:nvPr/>
        </p:nvSpPr>
        <p:spPr>
          <a:xfrm>
            <a:off x="11049000" y="21590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2000" b="1" noProof="0" dirty="0">
                <a:solidFill>
                  <a:srgbClr val="1B4332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Comunidad</a:t>
            </a:r>
            <a:endParaRPr lang="es-ES" sz="1600" noProof="0" dirty="0">
              <a:latin typeface="Quattrocento Sans" panose="020B0502050000020003" pitchFamily="34" charset="0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AC6F3EC0-6260-F995-4B8C-A3D0A4263896}"/>
              </a:ext>
            </a:extLst>
          </p:cNvPr>
          <p:cNvSpPr/>
          <p:nvPr/>
        </p:nvSpPr>
        <p:spPr>
          <a:xfrm>
            <a:off x="11049000" y="2641600"/>
            <a:ext cx="4191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s-ES" sz="1500" noProof="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Creación de comunidades para distintos ámbitos.</a:t>
            </a:r>
            <a:endParaRPr lang="es-ES" sz="1800" noProof="0" dirty="0">
              <a:latin typeface="Quattrocento Sans" panose="020B0502050000020003" pitchFamily="34" charset="0"/>
            </a:endParaRPr>
          </a:p>
          <a:p>
            <a:pPr>
              <a:lnSpc>
                <a:spcPct val="145000"/>
              </a:lnSpc>
              <a:spcBef>
                <a:spcPts val="400"/>
              </a:spcBef>
            </a:pPr>
            <a:r>
              <a:rPr lang="es-ES" sz="1500" noProof="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Permite:</a:t>
            </a:r>
            <a:endParaRPr lang="es-ES" sz="1800" noProof="0" dirty="0">
              <a:latin typeface="Quattrocento Sans" panose="020B0502050000020003" pitchFamily="34" charset="0"/>
            </a:endParaRPr>
          </a:p>
          <a:p>
            <a:pPr marL="285750" indent="-285750">
              <a:lnSpc>
                <a:spcPct val="145000"/>
              </a:lnSpc>
              <a:spcBef>
                <a:spcPts val="10"/>
              </a:spcBef>
              <a:buSzPct val="100000"/>
              <a:buChar char="•"/>
            </a:pPr>
            <a:r>
              <a:rPr lang="es-ES" sz="1500" noProof="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Encontrar usuarios con los mismos gustos</a:t>
            </a:r>
            <a:endParaRPr lang="es-ES" sz="1800" noProof="0" dirty="0">
              <a:latin typeface="Quattrocento Sans" panose="020B0502050000020003" pitchFamily="34" charset="0"/>
            </a:endParaRPr>
          </a:p>
          <a:p>
            <a:pPr marL="285750" indent="-285750">
              <a:lnSpc>
                <a:spcPct val="145000"/>
              </a:lnSpc>
              <a:spcBef>
                <a:spcPts val="10"/>
              </a:spcBef>
              <a:buSzPct val="100000"/>
              <a:buChar char="•"/>
            </a:pPr>
            <a:r>
              <a:rPr lang="es-ES" sz="1500" noProof="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Crecimiento de marca personal</a:t>
            </a:r>
            <a:endParaRPr lang="es-ES" sz="1800" noProof="0" dirty="0">
              <a:latin typeface="Quattrocento Sans" panose="020B0502050000020003" pitchFamily="34" charset="0"/>
            </a:endParaRPr>
          </a:p>
          <a:p>
            <a:pPr marL="285750" indent="-285750">
              <a:lnSpc>
                <a:spcPct val="145000"/>
              </a:lnSpc>
              <a:spcBef>
                <a:spcPts val="10"/>
              </a:spcBef>
              <a:buSzPct val="100000"/>
              <a:buChar char="•"/>
            </a:pPr>
            <a:r>
              <a:rPr lang="es-ES" sz="1500" noProof="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</a:rPr>
              <a:t>Generar un ambiente sano</a:t>
            </a:r>
            <a:endParaRPr lang="es-ES" sz="1800" noProof="0" dirty="0">
              <a:latin typeface="Quattrocento Sans" panose="020B0502050000020003" pitchFamily="34" charset="0"/>
            </a:endParaRP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2BFFAD56-C223-7331-B8E7-F8405EA858B8}"/>
              </a:ext>
            </a:extLst>
          </p:cNvPr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s-ES" sz="1400" noProof="0" dirty="0">
                <a:solidFill>
                  <a:srgbClr val="6C757D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10 / 12</a:t>
            </a:r>
            <a:endParaRPr lang="es-ES" sz="1400" noProof="0" dirty="0">
              <a:latin typeface="Quattrocento Sans" panose="020B0502050000020003" pitchFamily="34" charset="0"/>
            </a:endParaRPr>
          </a:p>
        </p:txBody>
      </p:sp>
      <p:pic>
        <p:nvPicPr>
          <p:cNvPr id="2" name="Picture 2" descr="Las funciones - Iconos gratis de diverso">
            <a:extLst>
              <a:ext uri="{FF2B5EF4-FFF2-40B4-BE49-F238E27FC236}">
                <a16:creationId xmlns:a16="http://schemas.microsoft.com/office/drawing/2014/main" id="{B7640773-B64C-B627-A285-8DA0B9C54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0" y="749300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C1FAA25-EF0E-B6C0-AA80-84A531FB0D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" y="6148580"/>
            <a:ext cx="4648200" cy="204384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A78F80C8-85C5-0846-04F0-F4446E732F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9300" y="5257800"/>
            <a:ext cx="4648200" cy="382540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40" name="Imagen 39">
            <a:extLst>
              <a:ext uri="{FF2B5EF4-FFF2-40B4-BE49-F238E27FC236}">
                <a16:creationId xmlns:a16="http://schemas.microsoft.com/office/drawing/2014/main" id="{116EF135-B1E9-443E-D9D9-ED0BD88588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45800" y="5630359"/>
            <a:ext cx="4648200" cy="30802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44" name="Imagen 43">
            <a:extLst>
              <a:ext uri="{FF2B5EF4-FFF2-40B4-BE49-F238E27FC236}">
                <a16:creationId xmlns:a16="http://schemas.microsoft.com/office/drawing/2014/main" id="{090BD52D-FDEA-642E-7271-E8FF795E27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29300" y="1387418"/>
            <a:ext cx="962082" cy="962082"/>
          </a:xfrm>
          <a:prstGeom prst="rect">
            <a:avLst/>
          </a:prstGeom>
        </p:spPr>
      </p:pic>
      <p:pic>
        <p:nvPicPr>
          <p:cNvPr id="46" name="Imagen 45">
            <a:extLst>
              <a:ext uri="{FF2B5EF4-FFF2-40B4-BE49-F238E27FC236}">
                <a16:creationId xmlns:a16="http://schemas.microsoft.com/office/drawing/2014/main" id="{6F56A227-CF1D-C86F-3ACA-EBA25ECF569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49000" y="1566612"/>
            <a:ext cx="648926" cy="648926"/>
          </a:xfrm>
          <a:prstGeom prst="rect">
            <a:avLst/>
          </a:prstGeom>
        </p:spPr>
      </p:pic>
      <p:pic>
        <p:nvPicPr>
          <p:cNvPr id="48" name="Imagen 47">
            <a:extLst>
              <a:ext uri="{FF2B5EF4-FFF2-40B4-BE49-F238E27FC236}">
                <a16:creationId xmlns:a16="http://schemas.microsoft.com/office/drawing/2014/main" id="{FE8652F1-BF56-5748-B13F-9EFD229516C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6000" y="1612900"/>
            <a:ext cx="4826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570118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4E28D4-B553-C932-BE6B-14FE77E99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6C1A0434-76B0-04E2-CF5B-E02BA185FABD}"/>
              </a:ext>
            </a:extLst>
          </p:cNvPr>
          <p:cNvSpPr/>
          <p:nvPr/>
        </p:nvSpPr>
        <p:spPr>
          <a:xfrm>
            <a:off x="77156" y="73082"/>
            <a:ext cx="1879600" cy="355600"/>
          </a:xfrm>
          <a:prstGeom prst="roundRect">
            <a:avLst>
              <a:gd name="adj" fmla="val 8000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 lang="es-ES" noProof="0" dirty="0">
              <a:solidFill>
                <a:schemeClr val="bg1"/>
              </a:solidFill>
              <a:latin typeface="Quattrocento Sans" panose="020B0502050000020003" pitchFamily="34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0B4F1DC-4F13-8949-9A44-E5E187CDA73E}"/>
              </a:ext>
            </a:extLst>
          </p:cNvPr>
          <p:cNvSpPr/>
          <p:nvPr/>
        </p:nvSpPr>
        <p:spPr>
          <a:xfrm>
            <a:off x="956" y="-3118"/>
            <a:ext cx="2032000" cy="508000"/>
          </a:xfrm>
          <a:prstGeom prst="rect">
            <a:avLst/>
          </a:prstGeom>
          <a:solidFill>
            <a:srgbClr val="1B4332"/>
          </a:solidFill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s-ES" sz="1200" b="1" noProof="0" dirty="0">
                <a:solidFill>
                  <a:schemeClr val="bg1"/>
                </a:solidFill>
                <a:latin typeface="Quattrocento Sans" panose="020B0502050000020003" pitchFamily="34" charset="0"/>
              </a:rPr>
              <a:t>USOS Y FUNCIONALIDAD</a:t>
            </a: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83241F25-FD0C-FB4E-CEBC-35AAACA3A108}"/>
              </a:ext>
            </a:extLst>
          </p:cNvPr>
          <p:cNvSpPr/>
          <p:nvPr/>
        </p:nvSpPr>
        <p:spPr>
          <a:xfrm>
            <a:off x="762000" y="736600"/>
            <a:ext cx="50800" cy="35560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s-ES" noProof="0" dirty="0">
              <a:latin typeface="Quattrocento Sans" panose="020B0502050000020003" pitchFamily="34" charset="0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F2AB070-322B-4602-BDBA-9041EDB68FF8}"/>
              </a:ext>
            </a:extLst>
          </p:cNvPr>
          <p:cNvSpPr/>
          <p:nvPr/>
        </p:nvSpPr>
        <p:spPr>
          <a:xfrm>
            <a:off x="965200" y="6985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s-ES" sz="2800" b="1" noProof="0" dirty="0">
                <a:solidFill>
                  <a:srgbClr val="1B4332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Funcionalidad de la aplicación </a:t>
            </a:r>
            <a:endParaRPr lang="es-ES" sz="2800" noProof="0" dirty="0">
              <a:latin typeface="Quattrocento Sans" panose="020B0502050000020003" pitchFamily="34" charset="0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80113D2F-2222-E69D-E351-7B88833BD0C4}"/>
              </a:ext>
            </a:extLst>
          </p:cNvPr>
          <p:cNvSpPr/>
          <p:nvPr/>
        </p:nvSpPr>
        <p:spPr>
          <a:xfrm>
            <a:off x="5778500" y="1402692"/>
            <a:ext cx="4699000" cy="386298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s-ES" noProof="0" dirty="0">
              <a:latin typeface="Quattrocento Sans" panose="020B0502050000020003" pitchFamily="34" charset="0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8D99429-B266-E429-E7BA-E71472A301DA}"/>
              </a:ext>
            </a:extLst>
          </p:cNvPr>
          <p:cNvSpPr/>
          <p:nvPr/>
        </p:nvSpPr>
        <p:spPr>
          <a:xfrm>
            <a:off x="6032500" y="2164693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2000" b="1" noProof="0" dirty="0">
                <a:solidFill>
                  <a:srgbClr val="1B4332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Gestión de enlaces</a:t>
            </a:r>
            <a:endParaRPr lang="es-ES" sz="1600" noProof="0" dirty="0">
              <a:latin typeface="Quattrocento Sans" panose="020B0502050000020003" pitchFamily="34" charset="0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0363B1D-7B7F-7AE4-FD2F-20CB1D86BA33}"/>
              </a:ext>
            </a:extLst>
          </p:cNvPr>
          <p:cNvSpPr/>
          <p:nvPr/>
        </p:nvSpPr>
        <p:spPr>
          <a:xfrm>
            <a:off x="6032500" y="2647293"/>
            <a:ext cx="4191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s-ES" sz="1500" noProof="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Funcionalidad que permite centralizar de forma correcta los enlaces. </a:t>
            </a:r>
          </a:p>
          <a:p>
            <a:pPr>
              <a:lnSpc>
                <a:spcPct val="145000"/>
              </a:lnSpc>
            </a:pPr>
            <a:r>
              <a:rPr lang="es-ES" sz="1500" noProof="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Permiten:</a:t>
            </a:r>
            <a:endParaRPr lang="es-ES" sz="1800" noProof="0" dirty="0">
              <a:latin typeface="Quattrocento Sans" panose="020B0502050000020003" pitchFamily="34" charset="0"/>
            </a:endParaRPr>
          </a:p>
          <a:p>
            <a:pPr marL="285750" indent="-285750">
              <a:lnSpc>
                <a:spcPct val="145000"/>
              </a:lnSpc>
              <a:spcBef>
                <a:spcPts val="10"/>
              </a:spcBef>
              <a:buSzPct val="100000"/>
              <a:buChar char="•"/>
            </a:pPr>
            <a:r>
              <a:rPr lang="es-E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</a:rPr>
              <a:t>Administración de enlaces personalizados</a:t>
            </a:r>
          </a:p>
          <a:p>
            <a:pPr marL="285750" indent="-285750">
              <a:lnSpc>
                <a:spcPct val="145000"/>
              </a:lnSpc>
              <a:spcBef>
                <a:spcPts val="10"/>
              </a:spcBef>
              <a:buSzPct val="100000"/>
              <a:buChar char="•"/>
            </a:pPr>
            <a:r>
              <a:rPr lang="es-E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</a:rPr>
              <a:t>Control de visibilidad de enlaces </a:t>
            </a:r>
          </a:p>
          <a:p>
            <a:pPr marL="285750" indent="-285750">
              <a:lnSpc>
                <a:spcPct val="145000"/>
              </a:lnSpc>
              <a:spcBef>
                <a:spcPts val="10"/>
              </a:spcBef>
              <a:buSzPct val="100000"/>
              <a:buChar char="•"/>
            </a:pPr>
            <a:r>
              <a:rPr lang="es-E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</a:rPr>
              <a:t>Organización mediante interfaz intuitiva</a:t>
            </a: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7BA0E55D-583B-274D-9D01-0AA32A59BB40}"/>
              </a:ext>
            </a:extLst>
          </p:cNvPr>
          <p:cNvSpPr/>
          <p:nvPr/>
        </p:nvSpPr>
        <p:spPr>
          <a:xfrm>
            <a:off x="10794999" y="1402693"/>
            <a:ext cx="4699000" cy="386299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s-ES" noProof="0" dirty="0">
              <a:latin typeface="Quattrocento Sans" panose="020B0502050000020003" pitchFamily="34" charset="0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A70C51B0-B5DD-92B5-AC53-4640513890B7}"/>
              </a:ext>
            </a:extLst>
          </p:cNvPr>
          <p:cNvSpPr/>
          <p:nvPr/>
        </p:nvSpPr>
        <p:spPr>
          <a:xfrm>
            <a:off x="11048999" y="159319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28714" y="171450"/>
                </a:moveTo>
                <a:lnTo>
                  <a:pt x="435769" y="171450"/>
                </a:lnTo>
                <a:cubicBezTo>
                  <a:pt x="447645" y="171450"/>
                  <a:pt x="457200" y="161895"/>
                  <a:pt x="457200" y="150019"/>
                </a:cubicBezTo>
                <a:lnTo>
                  <a:pt x="457200" y="21431"/>
                </a:lnTo>
                <a:cubicBezTo>
                  <a:pt x="457200" y="12769"/>
                  <a:pt x="452021" y="4911"/>
                  <a:pt x="443984" y="1607"/>
                </a:cubicBezTo>
                <a:cubicBezTo>
                  <a:pt x="435947" y="-1697"/>
                  <a:pt x="426750" y="179"/>
                  <a:pt x="420588" y="6251"/>
                </a:cubicBezTo>
                <a:lnTo>
                  <a:pt x="374422" y="52507"/>
                </a:lnTo>
                <a:cubicBezTo>
                  <a:pt x="334863" y="19735"/>
                  <a:pt x="283964" y="0"/>
                  <a:pt x="228600" y="0"/>
                </a:cubicBezTo>
                <a:cubicBezTo>
                  <a:pt x="113407" y="0"/>
                  <a:pt x="18127" y="85189"/>
                  <a:pt x="2322" y="196007"/>
                </a:cubicBezTo>
                <a:cubicBezTo>
                  <a:pt x="89" y="211634"/>
                  <a:pt x="10894" y="226100"/>
                  <a:pt x="26521" y="228332"/>
                </a:cubicBezTo>
                <a:cubicBezTo>
                  <a:pt x="42148" y="230565"/>
                  <a:pt x="56614" y="219670"/>
                  <a:pt x="58847" y="204133"/>
                </a:cubicBezTo>
                <a:cubicBezTo>
                  <a:pt x="70723" y="120997"/>
                  <a:pt x="142250" y="57150"/>
                  <a:pt x="228600" y="57150"/>
                </a:cubicBezTo>
                <a:cubicBezTo>
                  <a:pt x="268248" y="57150"/>
                  <a:pt x="304681" y="70545"/>
                  <a:pt x="333702" y="93137"/>
                </a:cubicBezTo>
                <a:lnTo>
                  <a:pt x="292001" y="134838"/>
                </a:lnTo>
                <a:cubicBezTo>
                  <a:pt x="285839" y="141000"/>
                  <a:pt x="284053" y="150197"/>
                  <a:pt x="287357" y="158234"/>
                </a:cubicBezTo>
                <a:cubicBezTo>
                  <a:pt x="290661" y="166271"/>
                  <a:pt x="298519" y="171450"/>
                  <a:pt x="307181" y="171450"/>
                </a:cubicBezTo>
                <a:lnTo>
                  <a:pt x="428714" y="171450"/>
                </a:lnTo>
                <a:close/>
                <a:moveTo>
                  <a:pt x="454968" y="261193"/>
                </a:moveTo>
                <a:cubicBezTo>
                  <a:pt x="457200" y="245566"/>
                  <a:pt x="446306" y="231100"/>
                  <a:pt x="430768" y="228868"/>
                </a:cubicBezTo>
                <a:cubicBezTo>
                  <a:pt x="415230" y="226635"/>
                  <a:pt x="400675" y="237530"/>
                  <a:pt x="398443" y="253067"/>
                </a:cubicBezTo>
                <a:cubicBezTo>
                  <a:pt x="386566" y="336113"/>
                  <a:pt x="315039" y="399961"/>
                  <a:pt x="228689" y="399961"/>
                </a:cubicBezTo>
                <a:cubicBezTo>
                  <a:pt x="189041" y="399961"/>
                  <a:pt x="152608" y="386566"/>
                  <a:pt x="123587" y="363974"/>
                </a:cubicBezTo>
                <a:lnTo>
                  <a:pt x="165199" y="322362"/>
                </a:lnTo>
                <a:cubicBezTo>
                  <a:pt x="171361" y="316200"/>
                  <a:pt x="173147" y="307003"/>
                  <a:pt x="169843" y="298966"/>
                </a:cubicBezTo>
                <a:cubicBezTo>
                  <a:pt x="166539" y="290929"/>
                  <a:pt x="158681" y="285750"/>
                  <a:pt x="150019" y="285750"/>
                </a:cubicBezTo>
                <a:lnTo>
                  <a:pt x="21431" y="285750"/>
                </a:lnTo>
                <a:cubicBezTo>
                  <a:pt x="9555" y="285750"/>
                  <a:pt x="0" y="295305"/>
                  <a:pt x="0" y="307181"/>
                </a:cubicBezTo>
                <a:lnTo>
                  <a:pt x="0" y="435769"/>
                </a:lnTo>
                <a:cubicBezTo>
                  <a:pt x="0" y="444431"/>
                  <a:pt x="5179" y="452289"/>
                  <a:pt x="13216" y="455593"/>
                </a:cubicBezTo>
                <a:cubicBezTo>
                  <a:pt x="21253" y="458897"/>
                  <a:pt x="30450" y="457021"/>
                  <a:pt x="36612" y="450949"/>
                </a:cubicBezTo>
                <a:lnTo>
                  <a:pt x="82867" y="404693"/>
                </a:lnTo>
                <a:cubicBezTo>
                  <a:pt x="122337" y="437465"/>
                  <a:pt x="173236" y="457200"/>
                  <a:pt x="228600" y="457200"/>
                </a:cubicBezTo>
                <a:cubicBezTo>
                  <a:pt x="343793" y="457200"/>
                  <a:pt x="439073" y="372011"/>
                  <a:pt x="454878" y="261193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lstStyle/>
          <a:p>
            <a:endParaRPr lang="es-ES" noProof="0" dirty="0">
              <a:latin typeface="Quattrocento Sans" panose="020B0502050000020003" pitchFamily="34" charset="0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0515A42-1742-95B7-CD23-586718292623}"/>
              </a:ext>
            </a:extLst>
          </p:cNvPr>
          <p:cNvSpPr/>
          <p:nvPr/>
        </p:nvSpPr>
        <p:spPr>
          <a:xfrm>
            <a:off x="11048999" y="2164693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2000" b="1" noProof="0" dirty="0">
                <a:solidFill>
                  <a:srgbClr val="1B4332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Sistema de interacción</a:t>
            </a:r>
            <a:endParaRPr lang="es-ES" sz="1600" noProof="0" dirty="0">
              <a:latin typeface="Quattrocento Sans" panose="020B0502050000020003" pitchFamily="34" charset="0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106F6FB-0A8D-D46A-C9ED-4F78FBD8CEAE}"/>
              </a:ext>
            </a:extLst>
          </p:cNvPr>
          <p:cNvSpPr/>
          <p:nvPr/>
        </p:nvSpPr>
        <p:spPr>
          <a:xfrm>
            <a:off x="11048999" y="2647293"/>
            <a:ext cx="4191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s-ES" sz="1500" noProof="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Funcionalidad que permite la interacción de una comunidad.</a:t>
            </a:r>
            <a:endParaRPr lang="es-ES" sz="1800" noProof="0" dirty="0">
              <a:latin typeface="Quattrocento Sans" panose="020B0502050000020003" pitchFamily="34" charset="0"/>
            </a:endParaRPr>
          </a:p>
          <a:p>
            <a:pPr>
              <a:lnSpc>
                <a:spcPct val="145000"/>
              </a:lnSpc>
              <a:spcBef>
                <a:spcPts val="400"/>
              </a:spcBef>
            </a:pPr>
            <a:r>
              <a:rPr lang="es-E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</a:rPr>
              <a:t>Permiten:</a:t>
            </a:r>
          </a:p>
          <a:p>
            <a:pPr marL="285750" indent="-285750">
              <a:lnSpc>
                <a:spcPct val="145000"/>
              </a:lnSpc>
              <a:spcBef>
                <a:spcPts val="10"/>
              </a:spcBef>
              <a:buSzPct val="100000"/>
              <a:buChar char="•"/>
            </a:pPr>
            <a:r>
              <a:rPr lang="es-E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</a:rPr>
              <a:t>Creación de hilos de discusión por temáticas</a:t>
            </a:r>
          </a:p>
          <a:p>
            <a:pPr marL="285750" indent="-285750">
              <a:lnSpc>
                <a:spcPct val="145000"/>
              </a:lnSpc>
              <a:spcBef>
                <a:spcPts val="10"/>
              </a:spcBef>
              <a:buSzPct val="100000"/>
              <a:buChar char="•"/>
            </a:pPr>
            <a:r>
              <a:rPr lang="es-E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</a:rPr>
              <a:t>Anidación de respuestas para el flujo de la conversación</a:t>
            </a:r>
          </a:p>
          <a:p>
            <a:pPr marL="285750" indent="-285750">
              <a:lnSpc>
                <a:spcPct val="145000"/>
              </a:lnSpc>
              <a:spcBef>
                <a:spcPts val="10"/>
              </a:spcBef>
              <a:buSzPct val="100000"/>
              <a:buChar char="•"/>
            </a:pPr>
            <a:r>
              <a:rPr lang="es-ES" sz="1500" noProof="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Pre visualización del foro</a:t>
            </a:r>
            <a:endParaRPr lang="es-ES" sz="1800" noProof="0" dirty="0">
              <a:latin typeface="Quattrocento Sans" panose="020B0502050000020003" pitchFamily="34" charset="0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746F5D09-0921-20BD-D97A-41FC9E1CBC79}"/>
              </a:ext>
            </a:extLst>
          </p:cNvPr>
          <p:cNvSpPr/>
          <p:nvPr/>
        </p:nvSpPr>
        <p:spPr>
          <a:xfrm>
            <a:off x="762001" y="1465325"/>
            <a:ext cx="4699000" cy="380035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s-ES" noProof="0" dirty="0">
              <a:latin typeface="Quattrocento Sans" panose="020B0502050000020003" pitchFamily="34" charset="0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AEF148E0-D8D5-2E1B-7726-E9AF1ACA081E}"/>
              </a:ext>
            </a:extLst>
          </p:cNvPr>
          <p:cNvSpPr/>
          <p:nvPr/>
        </p:nvSpPr>
        <p:spPr>
          <a:xfrm>
            <a:off x="1073151" y="1655826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14288" y="57150"/>
                </a:moveTo>
                <a:cubicBezTo>
                  <a:pt x="14288" y="25628"/>
                  <a:pt x="39916" y="0"/>
                  <a:pt x="71438" y="0"/>
                </a:cubicBezTo>
                <a:lnTo>
                  <a:pt x="271463" y="0"/>
                </a:lnTo>
                <a:cubicBezTo>
                  <a:pt x="302984" y="0"/>
                  <a:pt x="328613" y="25628"/>
                  <a:pt x="328613" y="57150"/>
                </a:cubicBezTo>
                <a:lnTo>
                  <a:pt x="328613" y="400050"/>
                </a:lnTo>
                <a:cubicBezTo>
                  <a:pt x="328613" y="431572"/>
                  <a:pt x="302984" y="457200"/>
                  <a:pt x="271463" y="457200"/>
                </a:cubicBezTo>
                <a:lnTo>
                  <a:pt x="71438" y="457200"/>
                </a:lnTo>
                <a:cubicBezTo>
                  <a:pt x="39916" y="457200"/>
                  <a:pt x="14288" y="431572"/>
                  <a:pt x="14288" y="400050"/>
                </a:cubicBezTo>
                <a:lnTo>
                  <a:pt x="14288" y="57150"/>
                </a:lnTo>
                <a:close/>
                <a:moveTo>
                  <a:pt x="114300" y="392906"/>
                </a:moveTo>
                <a:cubicBezTo>
                  <a:pt x="114300" y="404783"/>
                  <a:pt x="123855" y="414338"/>
                  <a:pt x="135731" y="414338"/>
                </a:cubicBezTo>
                <a:lnTo>
                  <a:pt x="207169" y="414338"/>
                </a:lnTo>
                <a:cubicBezTo>
                  <a:pt x="219045" y="414338"/>
                  <a:pt x="228600" y="404783"/>
                  <a:pt x="228600" y="392906"/>
                </a:cubicBezTo>
                <a:cubicBezTo>
                  <a:pt x="228600" y="381030"/>
                  <a:pt x="219045" y="371475"/>
                  <a:pt x="207169" y="371475"/>
                </a:cubicBezTo>
                <a:lnTo>
                  <a:pt x="135731" y="371475"/>
                </a:lnTo>
                <a:cubicBezTo>
                  <a:pt x="123855" y="371475"/>
                  <a:pt x="114300" y="381030"/>
                  <a:pt x="114300" y="392906"/>
                </a:cubicBezTo>
                <a:close/>
                <a:moveTo>
                  <a:pt x="271463" y="57150"/>
                </a:moveTo>
                <a:lnTo>
                  <a:pt x="71438" y="57150"/>
                </a:lnTo>
                <a:lnTo>
                  <a:pt x="71438" y="328613"/>
                </a:lnTo>
                <a:lnTo>
                  <a:pt x="271463" y="328613"/>
                </a:lnTo>
                <a:lnTo>
                  <a:pt x="271463" y="57150"/>
                </a:ln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lstStyle/>
          <a:p>
            <a:endParaRPr lang="es-ES" noProof="0" dirty="0">
              <a:latin typeface="Quattrocento Sans" panose="020B0502050000020003" pitchFamily="34" charset="0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838C96D5-F0D2-84F4-6CF6-380F80D0EC62}"/>
              </a:ext>
            </a:extLst>
          </p:cNvPr>
          <p:cNvSpPr/>
          <p:nvPr/>
        </p:nvSpPr>
        <p:spPr>
          <a:xfrm>
            <a:off x="1016001" y="2227326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2000" b="1" noProof="0" dirty="0">
                <a:solidFill>
                  <a:srgbClr val="1B4332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Panel de personalización</a:t>
            </a:r>
            <a:endParaRPr lang="es-ES" sz="1600" noProof="0" dirty="0">
              <a:latin typeface="Quattrocento Sans" panose="020B0502050000020003" pitchFamily="34" charset="0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F94DF1C7-4502-BA5F-9BC6-1A550C815289}"/>
              </a:ext>
            </a:extLst>
          </p:cNvPr>
          <p:cNvSpPr/>
          <p:nvPr/>
        </p:nvSpPr>
        <p:spPr>
          <a:xfrm>
            <a:off x="1016001" y="2709926"/>
            <a:ext cx="4191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s-ES" sz="1500" noProof="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Función que permite realizar de forma llamativa la difusión del perfil.</a:t>
            </a:r>
            <a:endParaRPr lang="es-ES" sz="1800" noProof="0" dirty="0">
              <a:latin typeface="Quattrocento Sans" panose="020B0502050000020003" pitchFamily="34" charset="0"/>
            </a:endParaRPr>
          </a:p>
          <a:p>
            <a:pPr>
              <a:lnSpc>
                <a:spcPct val="145000"/>
              </a:lnSpc>
              <a:spcBef>
                <a:spcPts val="400"/>
              </a:spcBef>
            </a:pPr>
            <a:r>
              <a:rPr lang="es-ES" sz="1500" noProof="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Permite:</a:t>
            </a:r>
            <a:endParaRPr lang="es-ES" sz="1800" noProof="0" dirty="0">
              <a:latin typeface="Quattrocento Sans" panose="020B0502050000020003" pitchFamily="34" charset="0"/>
            </a:endParaRPr>
          </a:p>
          <a:p>
            <a:pPr marL="285750" indent="-285750">
              <a:lnSpc>
                <a:spcPct val="145000"/>
              </a:lnSpc>
              <a:spcBef>
                <a:spcPts val="10"/>
              </a:spcBef>
              <a:buSzPct val="100000"/>
              <a:buChar char="•"/>
            </a:pPr>
            <a:r>
              <a:rPr lang="es-E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</a:rPr>
              <a:t>Edición dinámica de perfil</a:t>
            </a:r>
          </a:p>
          <a:p>
            <a:pPr marL="285750" indent="-285750">
              <a:lnSpc>
                <a:spcPct val="145000"/>
              </a:lnSpc>
              <a:spcBef>
                <a:spcPts val="10"/>
              </a:spcBef>
              <a:buSzPct val="100000"/>
              <a:buChar char="•"/>
            </a:pPr>
            <a:r>
              <a:rPr lang="es-E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</a:rPr>
              <a:t>Pre visualización en tiempo real de los cambios</a:t>
            </a:r>
          </a:p>
          <a:p>
            <a:pPr marL="285750" indent="-285750">
              <a:lnSpc>
                <a:spcPct val="145000"/>
              </a:lnSpc>
              <a:spcBef>
                <a:spcPts val="10"/>
              </a:spcBef>
              <a:buSzPct val="100000"/>
              <a:buChar char="•"/>
            </a:pPr>
            <a:r>
              <a:rPr lang="es-ES" sz="1500" dirty="0">
                <a:solidFill>
                  <a:srgbClr val="212529"/>
                </a:solidFill>
                <a:latin typeface="Quattrocento Sans" panose="020B0502050000020003" pitchFamily="34" charset="0"/>
                <a:ea typeface="QuattrocentoSans" pitchFamily="34" charset="-122"/>
              </a:rPr>
              <a:t>Gestión de perfiles minimalistas</a:t>
            </a:r>
            <a:endParaRPr lang="es-ES" sz="1800" noProof="0" dirty="0">
              <a:latin typeface="Quattrocento Sans" panose="020B0502050000020003" pitchFamily="34" charset="0"/>
            </a:endParaRPr>
          </a:p>
        </p:txBody>
      </p:sp>
      <p:pic>
        <p:nvPicPr>
          <p:cNvPr id="1028" name="Picture 4" descr="Instrucción - Iconos gratis de educación">
            <a:extLst>
              <a:ext uri="{FF2B5EF4-FFF2-40B4-BE49-F238E27FC236}">
                <a16:creationId xmlns:a16="http://schemas.microsoft.com/office/drawing/2014/main" id="{CBA9E698-87E3-29B6-B397-8176F1BF06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048" y="749300"/>
            <a:ext cx="382752" cy="382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357935D0-5389-AA24-4DB0-D9D2AE0DB6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1700" y="1567404"/>
            <a:ext cx="604141" cy="60414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65DE619-6814-A97E-44FF-0D48A37026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0" y="5555982"/>
            <a:ext cx="4691424" cy="258266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59822640-136E-B4B7-423B-3041FADA03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94999" y="5720693"/>
            <a:ext cx="4699000" cy="214965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38741A87-C787-ED10-358E-396F3C12F31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53500" b="1124"/>
          <a:stretch>
            <a:fillRect/>
          </a:stretch>
        </p:blipFill>
        <p:spPr>
          <a:xfrm>
            <a:off x="8376790" y="5690498"/>
            <a:ext cx="1957989" cy="217985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40" name="Imagen 39">
            <a:extLst>
              <a:ext uri="{FF2B5EF4-FFF2-40B4-BE49-F238E27FC236}">
                <a16:creationId xmlns:a16="http://schemas.microsoft.com/office/drawing/2014/main" id="{DB560947-DFC3-0586-198A-82D0158DA1D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46499"/>
          <a:stretch>
            <a:fillRect/>
          </a:stretch>
        </p:blipFill>
        <p:spPr>
          <a:xfrm>
            <a:off x="6108356" y="5608740"/>
            <a:ext cx="1808214" cy="237356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6" name="Text 35">
            <a:extLst>
              <a:ext uri="{FF2B5EF4-FFF2-40B4-BE49-F238E27FC236}">
                <a16:creationId xmlns:a16="http://schemas.microsoft.com/office/drawing/2014/main" id="{9ED91221-F816-5B74-8EB0-34164E843238}"/>
              </a:ext>
            </a:extLst>
          </p:cNvPr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s-ES" sz="1400" noProof="0" dirty="0">
                <a:solidFill>
                  <a:srgbClr val="6C757D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11 / 12</a:t>
            </a:r>
            <a:endParaRPr lang="es-ES" sz="1400" noProof="0" dirty="0">
              <a:latin typeface="Quattrocento Sans" panose="020B05020500000200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076146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70000" y="1016000"/>
            <a:ext cx="127000" cy="127000"/>
          </a:xfrm>
          <a:prstGeom prst="ellipse">
            <a:avLst/>
          </a:prstGeom>
          <a:solidFill>
            <a:srgbClr val="2A9D8F">
              <a:alpha val="18824"/>
            </a:srgbClr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333500" y="1079500"/>
            <a:ext cx="1016000" cy="1524000"/>
          </a:xfrm>
          <a:prstGeom prst="straightConnector1">
            <a:avLst/>
          </a:prstGeom>
          <a:noFill/>
          <a:ln w="12700">
            <a:solidFill>
              <a:srgbClr val="2A9D8F">
                <a:alpha val="9412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3970000" y="1524000"/>
            <a:ext cx="152400" cy="152400"/>
          </a:xfrm>
          <a:prstGeom prst="ellipse">
            <a:avLst/>
          </a:prstGeom>
          <a:solidFill>
            <a:srgbClr val="2A9D8F">
              <a:alpha val="14510"/>
            </a:srgbClr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1430000" y="1600200"/>
            <a:ext cx="2616200" cy="0"/>
          </a:xfrm>
          <a:prstGeom prst="straightConnector1">
            <a:avLst/>
          </a:prstGeom>
          <a:noFill/>
          <a:ln w="12700">
            <a:solidFill>
              <a:srgbClr val="2A9D8F">
                <a:alpha val="8235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905000" y="7366000"/>
            <a:ext cx="127000" cy="127000"/>
          </a:xfrm>
          <a:prstGeom prst="ellipse">
            <a:avLst/>
          </a:prstGeom>
          <a:solidFill>
            <a:srgbClr val="2A9D8F">
              <a:alpha val="12549"/>
            </a:srgbClr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3335000" y="6985000"/>
            <a:ext cx="127000" cy="127000"/>
          </a:xfrm>
          <a:prstGeom prst="ellipse">
            <a:avLst/>
          </a:prstGeom>
          <a:solidFill>
            <a:srgbClr val="2A9D8F">
              <a:alpha val="14510"/>
            </a:srgbClr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861300" y="17780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266700" y="-38100"/>
                </a:moveTo>
                <a:cubicBezTo>
                  <a:pt x="275034" y="-38100"/>
                  <a:pt x="283012" y="-34409"/>
                  <a:pt x="288488" y="-27980"/>
                </a:cubicBezTo>
                <a:lnTo>
                  <a:pt x="450413" y="162520"/>
                </a:lnTo>
                <a:cubicBezTo>
                  <a:pt x="457676" y="170974"/>
                  <a:pt x="459224" y="182880"/>
                  <a:pt x="454581" y="193000"/>
                </a:cubicBezTo>
                <a:cubicBezTo>
                  <a:pt x="449937" y="203121"/>
                  <a:pt x="439817" y="209550"/>
                  <a:pt x="428625" y="209550"/>
                </a:cubicBezTo>
                <a:lnTo>
                  <a:pt x="398978" y="209550"/>
                </a:lnTo>
                <a:lnTo>
                  <a:pt x="488513" y="314920"/>
                </a:lnTo>
                <a:cubicBezTo>
                  <a:pt x="495776" y="323374"/>
                  <a:pt x="497324" y="335280"/>
                  <a:pt x="492681" y="345400"/>
                </a:cubicBezTo>
                <a:cubicBezTo>
                  <a:pt x="488037" y="355521"/>
                  <a:pt x="477917" y="361950"/>
                  <a:pt x="466725" y="361950"/>
                </a:cubicBezTo>
                <a:lnTo>
                  <a:pt x="420886" y="361950"/>
                </a:lnTo>
                <a:lnTo>
                  <a:pt x="526613" y="486370"/>
                </a:lnTo>
                <a:cubicBezTo>
                  <a:pt x="533876" y="494824"/>
                  <a:pt x="535424" y="506730"/>
                  <a:pt x="530781" y="516850"/>
                </a:cubicBezTo>
                <a:cubicBezTo>
                  <a:pt x="526137" y="526971"/>
                  <a:pt x="516017" y="533400"/>
                  <a:pt x="504825" y="533400"/>
                </a:cubicBezTo>
                <a:lnTo>
                  <a:pt x="304800" y="533400"/>
                </a:lnTo>
                <a:lnTo>
                  <a:pt x="304800" y="609600"/>
                </a:lnTo>
                <a:cubicBezTo>
                  <a:pt x="304800" y="630674"/>
                  <a:pt x="287774" y="647700"/>
                  <a:pt x="266700" y="647700"/>
                </a:cubicBezTo>
                <a:cubicBezTo>
                  <a:pt x="245626" y="647700"/>
                  <a:pt x="228600" y="630674"/>
                  <a:pt x="228600" y="609600"/>
                </a:cubicBezTo>
                <a:lnTo>
                  <a:pt x="228600" y="533400"/>
                </a:lnTo>
                <a:lnTo>
                  <a:pt x="28575" y="533400"/>
                </a:lnTo>
                <a:cubicBezTo>
                  <a:pt x="17383" y="533400"/>
                  <a:pt x="7263" y="526971"/>
                  <a:pt x="2619" y="516850"/>
                </a:cubicBezTo>
                <a:cubicBezTo>
                  <a:pt x="-2024" y="506730"/>
                  <a:pt x="-476" y="494824"/>
                  <a:pt x="6787" y="486370"/>
                </a:cubicBezTo>
                <a:lnTo>
                  <a:pt x="112514" y="361950"/>
                </a:lnTo>
                <a:lnTo>
                  <a:pt x="66675" y="361950"/>
                </a:lnTo>
                <a:cubicBezTo>
                  <a:pt x="55483" y="361950"/>
                  <a:pt x="45363" y="355521"/>
                  <a:pt x="40719" y="345400"/>
                </a:cubicBezTo>
                <a:cubicBezTo>
                  <a:pt x="36076" y="335280"/>
                  <a:pt x="37624" y="323374"/>
                  <a:pt x="44887" y="314920"/>
                </a:cubicBezTo>
                <a:lnTo>
                  <a:pt x="134422" y="209550"/>
                </a:lnTo>
                <a:lnTo>
                  <a:pt x="104775" y="209550"/>
                </a:lnTo>
                <a:cubicBezTo>
                  <a:pt x="93583" y="209550"/>
                  <a:pt x="83463" y="203121"/>
                  <a:pt x="78819" y="193000"/>
                </a:cubicBezTo>
                <a:cubicBezTo>
                  <a:pt x="74176" y="182880"/>
                  <a:pt x="75724" y="170974"/>
                  <a:pt x="82987" y="162520"/>
                </a:cubicBezTo>
                <a:lnTo>
                  <a:pt x="244912" y="-27980"/>
                </a:lnTo>
                <a:cubicBezTo>
                  <a:pt x="250388" y="-34409"/>
                  <a:pt x="258366" y="-38100"/>
                  <a:pt x="266700" y="-38100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413000" y="2667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Sans" pitchFamily="34" charset="-122"/>
                <a:cs typeface="QuattrocentoSans" pitchFamily="34" charset="-120"/>
              </a:rPr>
              <a:t>Conclusiones y Demostración Final</a:t>
            </a:r>
            <a:endParaRPr lang="en-US" sz="4000" dirty="0">
              <a:latin typeface="Quattrocento Sans" panose="020B0502050000020003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23000" y="3492500"/>
            <a:ext cx="3810000" cy="2540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318000" y="3937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00600" y="39116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Resultados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318000" y="4445000"/>
            <a:ext cx="762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Se ha logrado una plataforma funcional que unifica foros y enlaces en una sola identidad digital, con autenticación JWT, SEO y despliegue profesional.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318000" y="5524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8900" y="222250"/>
                </a:moveTo>
                <a:lnTo>
                  <a:pt x="17016" y="222250"/>
                </a:lnTo>
                <a:cubicBezTo>
                  <a:pt x="-278" y="222250"/>
                  <a:pt x="-10904" y="203428"/>
                  <a:pt x="-2014" y="188565"/>
                </a:cubicBezTo>
                <a:lnTo>
                  <a:pt x="34727" y="127308"/>
                </a:lnTo>
                <a:cubicBezTo>
                  <a:pt x="40769" y="117237"/>
                  <a:pt x="51604" y="111125"/>
                  <a:pt x="63341" y="111125"/>
                </a:cubicBezTo>
                <a:lnTo>
                  <a:pt x="129322" y="111125"/>
                </a:lnTo>
                <a:cubicBezTo>
                  <a:pt x="182176" y="21600"/>
                  <a:pt x="261005" y="17085"/>
                  <a:pt x="313720" y="24795"/>
                </a:cubicBezTo>
                <a:cubicBezTo>
                  <a:pt x="322610" y="26114"/>
                  <a:pt x="329555" y="33060"/>
                  <a:pt x="330805" y="41880"/>
                </a:cubicBezTo>
                <a:cubicBezTo>
                  <a:pt x="338515" y="94595"/>
                  <a:pt x="334000" y="173424"/>
                  <a:pt x="244475" y="226278"/>
                </a:cubicBezTo>
                <a:lnTo>
                  <a:pt x="244475" y="292259"/>
                </a:lnTo>
                <a:cubicBezTo>
                  <a:pt x="244475" y="303996"/>
                  <a:pt x="238363" y="314831"/>
                  <a:pt x="228292" y="320873"/>
                </a:cubicBezTo>
                <a:lnTo>
                  <a:pt x="167035" y="357614"/>
                </a:lnTo>
                <a:cubicBezTo>
                  <a:pt x="152241" y="366504"/>
                  <a:pt x="133350" y="355808"/>
                  <a:pt x="133350" y="338584"/>
                </a:cubicBezTo>
                <a:lnTo>
                  <a:pt x="133350" y="266700"/>
                </a:lnTo>
                <a:cubicBezTo>
                  <a:pt x="133350" y="242183"/>
                  <a:pt x="113417" y="222250"/>
                  <a:pt x="88900" y="222250"/>
                </a:cubicBezTo>
                <a:lnTo>
                  <a:pt x="88831" y="222250"/>
                </a:lnTo>
                <a:close/>
                <a:moveTo>
                  <a:pt x="277813" y="111125"/>
                </a:moveTo>
                <a:cubicBezTo>
                  <a:pt x="277813" y="92726"/>
                  <a:pt x="262874" y="77788"/>
                  <a:pt x="244475" y="77788"/>
                </a:cubicBezTo>
                <a:cubicBezTo>
                  <a:pt x="226076" y="77788"/>
                  <a:pt x="211138" y="92726"/>
                  <a:pt x="211138" y="111125"/>
                </a:cubicBezTo>
                <a:cubicBezTo>
                  <a:pt x="211138" y="129524"/>
                  <a:pt x="226076" y="144463"/>
                  <a:pt x="244475" y="144463"/>
                </a:cubicBezTo>
                <a:cubicBezTo>
                  <a:pt x="262874" y="144463"/>
                  <a:pt x="277813" y="129524"/>
                  <a:pt x="277813" y="111125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00600" y="54991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Futuro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318000" y="6032500"/>
            <a:ext cx="762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Implementación de analíticas avanzadas y temas personalizables mediante un editor drag-and-drop para mayor personalización de perfiles.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413000" y="7239000"/>
            <a:ext cx="11430000" cy="889000"/>
          </a:xfrm>
          <a:prstGeom prst="roundRect">
            <a:avLst>
              <a:gd name="adj" fmla="val 8000"/>
            </a:avLst>
          </a:prstGeom>
          <a:solidFill>
            <a:srgbClr val="2A9D8F">
              <a:alpha val="18824"/>
            </a:srgbClr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s-ES">
              <a:latin typeface="Quattrocento Sans" panose="020B0502050000020003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667000" y="7302500"/>
            <a:ext cx="1092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i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"Gracias por su atención. Quedo a disposición del tribunal para cualquier consulta técnica."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318000" y="8382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50196"/>
                  </a:srgbClr>
                </a:solidFill>
                <a:latin typeface="Quattrocento Sans" panose="020B0502050000020003" pitchFamily="34" charset="0"/>
                <a:ea typeface="Quattrocento Sans" pitchFamily="34" charset="-122"/>
                <a:cs typeface="Quattrocento Sans" pitchFamily="34" charset="-120"/>
              </a:rPr>
              <a:t>Nicolas Gianfranco Pezo Ccama | YourTree 2026</a:t>
            </a:r>
            <a:endParaRPr lang="en-US" sz="1600" dirty="0">
              <a:latin typeface="Quattrocento Sans" panose="020B0502050000020003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1501</TotalTime>
  <Words>1361</Words>
  <Application>Microsoft Office PowerPoint</Application>
  <PresentationFormat>Personalizado</PresentationFormat>
  <Paragraphs>275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Quattrocento Sans</vt:lpstr>
      <vt:lpstr>Custom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YourTree: Ecosistema de Identidad y Comunidad Interactiva</dc:title>
  <dc:subject>YourTree: Ecosistema de Identidad y Comunidad Interactiva</dc:subject>
  <dc:creator>Nicolas Pezo</dc:creator>
  <cp:lastModifiedBy>nicolas pezo</cp:lastModifiedBy>
  <cp:revision>10</cp:revision>
  <dcterms:created xsi:type="dcterms:W3CDTF">2026-05-04T11:45:11Z</dcterms:created>
  <dcterms:modified xsi:type="dcterms:W3CDTF">2026-05-12T15:03:51Z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{"Label":"YourTree: Ecosistema de Identidad y Comunidad Interactiva","ContentProducer":"001191110108MACG2KBH8F10000","ProduceID":"19df2c1c-5dc2-8aa7-8000-00000554c348","ReservedCode1":"","ContentPropagator":"001191110108MACG2KBH8F20000","PropagateID":"19df2c1c-5dc2-8aa7-8000-00000554c348","ReservedCode2":""}</vt:lpwstr>
  </property>
</Properties>
</file>